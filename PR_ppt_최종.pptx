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0"/>
  </p:notesMasterIdLst>
  <p:sldIdLst>
    <p:sldId id="256" r:id="rId2"/>
    <p:sldId id="261" r:id="rId3"/>
    <p:sldId id="260" r:id="rId4"/>
    <p:sldId id="262" r:id="rId5"/>
    <p:sldId id="264" r:id="rId6"/>
    <p:sldId id="265" r:id="rId7"/>
    <p:sldId id="266" r:id="rId8"/>
    <p:sldId id="285" r:id="rId9"/>
    <p:sldId id="269" r:id="rId10"/>
    <p:sldId id="286" r:id="rId11"/>
    <p:sldId id="287" r:id="rId12"/>
    <p:sldId id="288" r:id="rId13"/>
    <p:sldId id="289" r:id="rId14"/>
    <p:sldId id="290" r:id="rId15"/>
    <p:sldId id="275" r:id="rId16"/>
    <p:sldId id="268" r:id="rId17"/>
    <p:sldId id="270" r:id="rId18"/>
    <p:sldId id="271" r:id="rId19"/>
    <p:sldId id="272" r:id="rId20"/>
    <p:sldId id="273" r:id="rId21"/>
    <p:sldId id="278" r:id="rId22"/>
    <p:sldId id="274" r:id="rId23"/>
    <p:sldId id="276" r:id="rId24"/>
    <p:sldId id="279" r:id="rId25"/>
    <p:sldId id="280" r:id="rId26"/>
    <p:sldId id="283" r:id="rId27"/>
    <p:sldId id="284" r:id="rId28"/>
    <p:sldId id="291" r:id="rId29"/>
  </p:sldIdLst>
  <p:sldSz cx="12192000" cy="6858000"/>
  <p:notesSz cx="6858000" cy="9144000"/>
  <p:embeddedFontLst>
    <p:embeddedFont>
      <p:font typeface="Cascadia Code" panose="020B0609020000020004" pitchFamily="49" charset="0"/>
      <p:regular r:id="rId31"/>
      <p:bold r:id="rId32"/>
      <p:italic r:id="rId33"/>
      <p:boldItalic r:id="rId34"/>
    </p:embeddedFont>
    <p:embeddedFont>
      <p:font typeface="Cascadia Code SemiBold" panose="020B0609020000020004" pitchFamily="49" charset="0"/>
      <p:bold r:id="rId35"/>
      <p:boldItalic r:id="rId36"/>
    </p:embeddedFont>
    <p:embeddedFont>
      <p:font typeface="G마켓 산스 Bold" panose="02000000000000000000" pitchFamily="50" charset="-127"/>
      <p:regular r:id="rId37"/>
    </p:embeddedFont>
    <p:embeddedFont>
      <p:font typeface="맑은 고딕" panose="020B0503020000020004" pitchFamily="50" charset="-127"/>
      <p:regular r:id="rId38"/>
      <p:bold r:id="rId39"/>
    </p:embeddedFont>
    <p:embeddedFont>
      <p:font typeface="에스코어 드림 3 Light" panose="020B0303030302020204" pitchFamily="34" charset="-127"/>
      <p:regular r:id="rId40"/>
    </p:embeddedFont>
    <p:embeddedFont>
      <p:font typeface="에스코어 드림 4 Regular" panose="020B0503030302020204" pitchFamily="34" charset="-127"/>
      <p:regular r:id="rId41"/>
    </p:embeddedFont>
    <p:embeddedFont>
      <p:font typeface="에스코어 드림 5 Medium" panose="020B0503030302020204" pitchFamily="34" charset="-127"/>
      <p:regular r:id="rId42"/>
    </p:embeddedFont>
    <p:embeddedFont>
      <p:font typeface="에스코어 드림 6 Bold" panose="020B0703030302020204" pitchFamily="34" charset="-127"/>
      <p:bold r:id="rId4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745F"/>
    <a:srgbClr val="1E1E1E"/>
    <a:srgbClr val="8903FE"/>
    <a:srgbClr val="234135"/>
    <a:srgbClr val="F2F2F2"/>
    <a:srgbClr val="181717"/>
    <a:srgbClr val="FF5050"/>
    <a:srgbClr val="FFFFFF"/>
    <a:srgbClr val="A0E2FF"/>
    <a:srgbClr val="81B3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29" autoAdjust="0"/>
    <p:restoredTop sz="95026" autoAdjust="0"/>
  </p:normalViewPr>
  <p:slideViewPr>
    <p:cSldViewPr snapToGrid="0">
      <p:cViewPr varScale="1">
        <p:scale>
          <a:sx n="62" d="100"/>
          <a:sy n="62" d="100"/>
        </p:scale>
        <p:origin x="67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335217843709219E-2"/>
          <c:y val="1.7672507561838701E-2"/>
          <c:w val="0.60085724915346894"/>
          <c:h val="0.564716397999713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Step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y=0</c:v>
                </c:pt>
                <c:pt idx="1">
                  <c:v>y=1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D7-43E6-9A9C-40067BACB8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Step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dkEdge"/>
          </c:spPr>
          <c:invertIfNegative val="0"/>
          <c:cat>
            <c:strRef>
              <c:f>Sheet1!$A$2:$A$3</c:f>
              <c:strCache>
                <c:ptCount val="2"/>
                <c:pt idx="0">
                  <c:v>y=0</c:v>
                </c:pt>
                <c:pt idx="1">
                  <c:v>y=1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D7-43E6-9A9C-40067BACB8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84775503"/>
        <c:axId val="1484775983"/>
      </c:barChart>
      <c:catAx>
        <c:axId val="1484775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1197" b="0" i="0" u="none" strike="noStrike" kern="1200" cap="none" spc="2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84775983"/>
        <c:crosses val="autoZero"/>
        <c:auto val="1"/>
        <c:lblAlgn val="ctr"/>
        <c:lblOffset val="100"/>
        <c:noMultiLvlLbl val="0"/>
      </c:catAx>
      <c:valAx>
        <c:axId val="148477598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484775503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9381F-38DD-4E0B-8AB2-B33321F9D68E}" type="datetimeFigureOut">
              <a:rPr lang="ko-KR" altLang="en-US" smtClean="0"/>
              <a:t>2024-06-12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5C98E-2B04-42D8-A39B-3DEDC23DE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871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5C98E-2B04-42D8-A39B-3DEDC23DE8D9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080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5C98E-2B04-42D8-A39B-3DEDC23DE8D9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041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5C98E-2B04-42D8-A39B-3DEDC23DE8D9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066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5C98E-2B04-42D8-A39B-3DEDC23DE8D9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5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5C98E-2B04-42D8-A39B-3DEDC23DE8D9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751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5C98E-2B04-42D8-A39B-3DEDC23DE8D9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617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5C98E-2B04-42D8-A39B-3DEDC23DE8D9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770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5C98E-2B04-42D8-A39B-3DEDC23DE8D9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299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5C98E-2B04-42D8-A39B-3DEDC23DE8D9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247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5C98E-2B04-42D8-A39B-3DEDC23DE8D9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868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5C98E-2B04-42D8-A39B-3DEDC23DE8D9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971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75C98E-2B04-42D8-A39B-3DEDC23DE8D9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5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15984" y="2167982"/>
            <a:ext cx="9003323" cy="2007699"/>
          </a:xfrm>
        </p:spPr>
        <p:txBody>
          <a:bodyPr anchor="t">
            <a:normAutofit/>
          </a:bodyPr>
          <a:lstStyle>
            <a:lvl1pPr algn="l">
              <a:lnSpc>
                <a:spcPct val="150000"/>
              </a:lnSpc>
              <a:defRPr sz="4500">
                <a:solidFill>
                  <a:srgbClr val="00462A"/>
                </a:solidFill>
                <a:latin typeface="이화체" panose="02000300000000000000" pitchFamily="2" charset="-127"/>
                <a:ea typeface="이화체" panose="020003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8E48800-8025-4764-8B7B-953D5F0A9D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427"/>
          <a:stretch/>
        </p:blipFill>
        <p:spPr>
          <a:xfrm>
            <a:off x="1241" y="0"/>
            <a:ext cx="12189519" cy="127374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296420A-36F9-455C-A7D2-BBE68D62EF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" y="3"/>
            <a:ext cx="121895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59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Aft>
                <a:spcPts val="0"/>
              </a:spcAft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spcAft>
                <a:spcPts val="0"/>
              </a:spcAft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spcAft>
                <a:spcPts val="0"/>
              </a:spcAft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spcAft>
                <a:spcPts val="0"/>
              </a:spcAft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spcAft>
                <a:spcPts val="0"/>
              </a:spcAft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CF69E-6196-42B6-B54D-ABCBA001BE7F}" type="datetime1">
              <a:rPr lang="ko-KR" altLang="en-US" smtClean="0"/>
              <a:t>2024-06-12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587619" y="6179283"/>
            <a:ext cx="824620" cy="365125"/>
          </a:xfrm>
        </p:spPr>
        <p:txBody>
          <a:bodyPr/>
          <a:lstStyle>
            <a:lvl1pPr>
              <a:defRPr>
                <a:solidFill>
                  <a:srgbClr val="8C8E90"/>
                </a:solidFill>
                <a:latin typeface="YD윤고딕 330" panose="02020603020101020101" pitchFamily="18" charset="-127"/>
                <a:ea typeface="YD윤고딕 330" panose="02020603020101020101" pitchFamily="18" charset="-127"/>
              </a:defRPr>
            </a:lvl1pPr>
          </a:lstStyle>
          <a:p>
            <a:fld id="{E98A2F03-CFD3-4116-B783-1D8C8483C48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871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6296420A-36F9-455C-A7D2-BBE68D62EF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" y="3"/>
            <a:ext cx="12189519" cy="68580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510" y="2002634"/>
            <a:ext cx="9145068" cy="2852737"/>
          </a:xfrm>
        </p:spPr>
        <p:txBody>
          <a:bodyPr anchor="ctr">
            <a:normAutofit/>
          </a:bodyPr>
          <a:lstStyle>
            <a:lvl1pPr algn="l">
              <a:lnSpc>
                <a:spcPct val="150000"/>
              </a:lnSpc>
              <a:defRPr sz="3200">
                <a:solidFill>
                  <a:srgbClr val="00462A"/>
                </a:solidFill>
                <a:latin typeface="이화체" panose="02000300000000000000" pitchFamily="2" charset="-127"/>
                <a:ea typeface="이화체" panose="020003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D8E48800-8025-4764-8B7B-953D5F0A9D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427"/>
          <a:stretch/>
        </p:blipFill>
        <p:spPr>
          <a:xfrm>
            <a:off x="1241" y="0"/>
            <a:ext cx="12189519" cy="127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14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21328" y="1460500"/>
            <a:ext cx="4547858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69186" y="1460500"/>
            <a:ext cx="4547858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521329" y="5991225"/>
            <a:ext cx="2743200" cy="365125"/>
          </a:xfrm>
        </p:spPr>
        <p:txBody>
          <a:bodyPr/>
          <a:lstStyle/>
          <a:p>
            <a:fld id="{E7F73B92-FFDA-4DF6-B1A7-5B6F0E050AC1}" type="datetime1">
              <a:rPr lang="ko-KR" altLang="en-US" smtClean="0"/>
              <a:t>2024-06-12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A2F03-CFD3-4116-B783-1D8C8483C4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062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4FBC-5758-4965-A909-4DACE7CABBDD}" type="datetime1">
              <a:rPr lang="ko-KR" altLang="en-US" smtClean="0"/>
              <a:t>2024-06-12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A2F03-CFD3-4116-B783-1D8C8483C4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643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A3763-99D1-4903-8C66-A8E725ADB1AB}" type="datetime1">
              <a:rPr lang="ko-KR" altLang="en-US" smtClean="0"/>
              <a:t>2024-06-12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A2F03-CFD3-4116-B783-1D8C8483C4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171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60430FB-5919-40D4-A84F-DD7206169AD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" y="0"/>
            <a:ext cx="12189519" cy="6858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296420A-36F9-455C-A7D2-BBE68D62EF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010"/>
          <a:stretch/>
        </p:blipFill>
        <p:spPr>
          <a:xfrm>
            <a:off x="1241" y="3"/>
            <a:ext cx="12189519" cy="1302324"/>
          </a:xfrm>
          <a:prstGeom prst="rect">
            <a:avLst/>
          </a:prstGeom>
        </p:spPr>
      </p:pic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55730" y="199719"/>
            <a:ext cx="10063544" cy="8157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53832" y="1617239"/>
            <a:ext cx="100654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C8940-77A6-42DD-8E68-753F89C17E3F}" type="datetime1">
              <a:rPr lang="ko-KR" altLang="en-US" smtClean="0"/>
              <a:t>2024-06-12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005580" y="6426282"/>
            <a:ext cx="826199" cy="4795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2F03-CFD3-4116-B783-1D8C8483C48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978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500" kern="1200">
          <a:solidFill>
            <a:srgbClr val="00482B"/>
          </a:solidFill>
          <a:latin typeface="이화체" panose="02000300000000000000" pitchFamily="2" charset="-127"/>
          <a:ea typeface="이화체" panose="020003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defRPr sz="2800" kern="1200">
          <a:solidFill>
            <a:schemeClr val="bg2">
              <a:lumMod val="10000"/>
            </a:schemeClr>
          </a:solidFill>
          <a:latin typeface="YD윤고딕 330" panose="02020603020101020101" pitchFamily="18" charset="-127"/>
          <a:ea typeface="YD윤고딕 330" panose="02020603020101020101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defRPr sz="2400" kern="1200">
          <a:solidFill>
            <a:schemeClr val="bg2">
              <a:lumMod val="10000"/>
            </a:schemeClr>
          </a:solidFill>
          <a:latin typeface="YD윤고딕 330" panose="02020603020101020101" pitchFamily="18" charset="-127"/>
          <a:ea typeface="YD윤고딕 330" panose="02020603020101020101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YD윤고딕 330" panose="02020603020101020101" pitchFamily="18" charset="-127"/>
          <a:ea typeface="YD윤고딕 330" panose="02020603020101020101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YD윤고딕 330" panose="02020603020101020101" pitchFamily="18" charset="-127"/>
          <a:ea typeface="YD윤고딕 330" panose="02020603020101020101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YD윤고딕 330" panose="02020603020101020101" pitchFamily="18" charset="-127"/>
          <a:ea typeface="YD윤고딕 330" panose="020206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615983" y="1764570"/>
            <a:ext cx="9003323" cy="200769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5000" b="1" dirty="0"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" panose="020B0604020202020204" pitchFamily="34" charset="0"/>
              </a:rPr>
              <a:t>Team</a:t>
            </a:r>
            <a:r>
              <a:rPr lang="ko-KR" altLang="en-US" sz="5000" b="1" dirty="0"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" panose="020B0604020202020204" pitchFamily="34" charset="0"/>
              </a:rPr>
              <a:t> </a:t>
            </a:r>
            <a:r>
              <a:rPr lang="en-US" altLang="ko-KR" sz="5000" b="1" dirty="0"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" panose="020B0604020202020204" pitchFamily="34" charset="0"/>
              </a:rPr>
              <a:t>12</a:t>
            </a:r>
            <a:br>
              <a:rPr lang="en-US" altLang="ko-KR" sz="5000" b="1" dirty="0"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" panose="020B0604020202020204" pitchFamily="34" charset="0"/>
              </a:rPr>
            </a:br>
            <a:r>
              <a:rPr lang="en-US" altLang="ko-KR" sz="6000" b="1" dirty="0"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" panose="020B0604020202020204" pitchFamily="34" charset="0"/>
              </a:rPr>
              <a:t>Project Presentation</a:t>
            </a:r>
            <a:endParaRPr lang="ko-KR" altLang="en-US" sz="6000" b="1" dirty="0">
              <a:latin typeface="에스코어 드림 6 Bold" panose="020B0703030302020204" pitchFamily="34" charset="-127"/>
              <a:ea typeface="에스코어 드림 6 Bold" panose="020B0703030302020204" pitchFamily="34" charset="-127"/>
              <a:cs typeface="Arial" panose="020B0604020202020204" pitchFamily="34" charset="0"/>
            </a:endParaRPr>
          </a:p>
        </p:txBody>
      </p:sp>
      <p:sp>
        <p:nvSpPr>
          <p:cNvPr id="3" name="제목 3">
            <a:extLst>
              <a:ext uri="{FF2B5EF4-FFF2-40B4-BE49-F238E27FC236}">
                <a16:creationId xmlns:a16="http://schemas.microsoft.com/office/drawing/2014/main" id="{51C89A56-4A04-AE7D-ACAA-75B93FA48803}"/>
              </a:ext>
            </a:extLst>
          </p:cNvPr>
          <p:cNvSpPr txBox="1">
            <a:spLocks/>
          </p:cNvSpPr>
          <p:nvPr/>
        </p:nvSpPr>
        <p:spPr>
          <a:xfrm>
            <a:off x="615983" y="4962198"/>
            <a:ext cx="2584417" cy="157856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1" hangingPunct="1">
              <a:lnSpc>
                <a:spcPct val="150000"/>
              </a:lnSpc>
              <a:spcBef>
                <a:spcPct val="0"/>
              </a:spcBef>
              <a:buNone/>
              <a:defRPr sz="4500" kern="1200">
                <a:solidFill>
                  <a:srgbClr val="00462A"/>
                </a:solidFill>
                <a:latin typeface="이화체" panose="02000300000000000000" pitchFamily="2" charset="-127"/>
                <a:ea typeface="이화체" panose="02000300000000000000" pitchFamily="2" charset="-127"/>
                <a:cs typeface="+mj-cs"/>
              </a:defRPr>
            </a:lvl1pPr>
          </a:lstStyle>
          <a:p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2046024 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이예원</a:t>
            </a:r>
            <a:endParaRPr lang="en-US" altLang="ko-KR" sz="1400" b="1" dirty="0">
              <a:solidFill>
                <a:schemeClr val="bg1">
                  <a:lumMod val="50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2217015 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신은지</a:t>
            </a:r>
            <a:endParaRPr lang="en-US" altLang="ko-KR" sz="1400" b="1" dirty="0">
              <a:solidFill>
                <a:schemeClr val="bg1">
                  <a:lumMod val="50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2271034 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신유진</a:t>
            </a:r>
            <a:endParaRPr lang="en-US" altLang="ko-KR" sz="1400" b="1" dirty="0">
              <a:solidFill>
                <a:schemeClr val="bg1">
                  <a:lumMod val="50000"/>
                </a:schemeClr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2391028 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조승연 </a:t>
            </a:r>
          </a:p>
        </p:txBody>
      </p:sp>
    </p:spTree>
    <p:extLst>
      <p:ext uri="{BB962C8B-B14F-4D97-AF65-F5344CB8AC3E}">
        <p14:creationId xmlns:p14="http://schemas.microsoft.com/office/powerpoint/2010/main" val="3443319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4065" y="175844"/>
            <a:ext cx="10063544" cy="815756"/>
          </a:xfrm>
        </p:spPr>
        <p:txBody>
          <a:bodyPr/>
          <a:lstStyle/>
          <a:p>
            <a:r>
              <a:rPr lang="en-US" altLang="ko-KR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Index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94124A2-8F51-2D39-8467-AFC8A1072145}"/>
              </a:ext>
            </a:extLst>
          </p:cNvPr>
          <p:cNvSpPr txBox="1">
            <a:spLocks/>
          </p:cNvSpPr>
          <p:nvPr/>
        </p:nvSpPr>
        <p:spPr>
          <a:xfrm>
            <a:off x="855730" y="1723718"/>
            <a:ext cx="10063544" cy="3991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rgbClr val="00482B"/>
                </a:solidFill>
                <a:latin typeface="이화체" panose="02000300000000000000" pitchFamily="2" charset="-127"/>
                <a:ea typeface="이화체" panose="02000300000000000000" pitchFamily="2" charset="-127"/>
                <a:cs typeface="+mj-cs"/>
              </a:defRPr>
            </a:lvl1pPr>
          </a:lstStyle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Preprocessing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Training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Further ensemble &amp; Validation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Issues </a:t>
            </a:r>
          </a:p>
        </p:txBody>
      </p:sp>
    </p:spTree>
    <p:extLst>
      <p:ext uri="{BB962C8B-B14F-4D97-AF65-F5344CB8AC3E}">
        <p14:creationId xmlns:p14="http://schemas.microsoft.com/office/powerpoint/2010/main" val="875445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6824" y="213166"/>
            <a:ext cx="10063544" cy="815756"/>
          </a:xfrm>
        </p:spPr>
        <p:txBody>
          <a:bodyPr/>
          <a:lstStyle/>
          <a:p>
            <a:r>
              <a:rPr lang="en-US" altLang="ko-KR" dirty="0"/>
              <a:t>Preprocessing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94124A2-8F51-2D39-8467-AFC8A1072145}"/>
              </a:ext>
            </a:extLst>
          </p:cNvPr>
          <p:cNvSpPr txBox="1">
            <a:spLocks/>
          </p:cNvSpPr>
          <p:nvPr/>
        </p:nvSpPr>
        <p:spPr>
          <a:xfrm>
            <a:off x="787909" y="2207227"/>
            <a:ext cx="10063544" cy="3991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rgbClr val="00482B"/>
                </a:solidFill>
                <a:latin typeface="이화체" panose="02000300000000000000" pitchFamily="2" charset="-127"/>
                <a:ea typeface="이화체" panose="02000300000000000000" pitchFamily="2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4300" dirty="0"/>
              <a:t>Handling Missing Value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: One-hot encoding including ‘unknown’</a:t>
            </a:r>
          </a:p>
          <a:p>
            <a:pPr>
              <a:lnSpc>
                <a:spcPct val="150000"/>
              </a:lnSpc>
            </a:pPr>
            <a:r>
              <a:rPr lang="en-US" altLang="ko-KR" b="0" i="0" dirty="0">
                <a:solidFill>
                  <a:schemeClr val="bg1">
                    <a:lumMod val="65000"/>
                  </a:schemeClr>
                </a:solidFill>
                <a:effectLst/>
                <a:highlight>
                  <a:srgbClr val="F8F9FA"/>
                </a:highlight>
                <a:latin typeface="Apple SD Gothic Neo"/>
              </a:rPr>
              <a:t>'unknown’ may also have some meaning</a:t>
            </a:r>
          </a:p>
          <a:p>
            <a:pPr>
              <a:lnSpc>
                <a:spcPct val="150000"/>
              </a:lnSpc>
            </a:pPr>
            <a:endParaRPr lang="en-US" altLang="ko-KR" b="0" i="0" dirty="0">
              <a:solidFill>
                <a:srgbClr val="202124"/>
              </a:solidFill>
              <a:effectLst/>
              <a:highlight>
                <a:srgbClr val="F8F9FA"/>
              </a:highlight>
              <a:latin typeface="Apple SD Gothic Neo"/>
            </a:endParaRPr>
          </a:p>
          <a:p>
            <a:pPr>
              <a:lnSpc>
                <a:spcPct val="150000"/>
              </a:lnSpc>
            </a:pPr>
            <a:r>
              <a:rPr lang="en-US" altLang="ko-KR" b="0" i="0" dirty="0">
                <a:solidFill>
                  <a:srgbClr val="202124"/>
                </a:solidFill>
                <a:effectLst/>
                <a:highlight>
                  <a:srgbClr val="F8F9FA"/>
                </a:highlight>
                <a:latin typeface="Apple SD Gothic Neo"/>
              </a:rPr>
              <a:t>No special handling.</a:t>
            </a:r>
            <a:endParaRPr lang="en-US" altLang="ko-KR" dirty="0">
              <a:solidFill>
                <a:srgbClr val="202124"/>
              </a:solidFill>
              <a:highlight>
                <a:srgbClr val="F8F9FA"/>
              </a:highlight>
              <a:latin typeface="Apple SD Gothic Neo"/>
            </a:endParaRPr>
          </a:p>
          <a:p>
            <a:pPr>
              <a:lnSpc>
                <a:spcPct val="200000"/>
              </a:lnSpc>
            </a:pP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459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6824" y="213166"/>
            <a:ext cx="10063544" cy="815756"/>
          </a:xfrm>
        </p:spPr>
        <p:txBody>
          <a:bodyPr/>
          <a:lstStyle/>
          <a:p>
            <a:r>
              <a:rPr lang="en-US" altLang="ko-KR" dirty="0"/>
              <a:t>Preprocessing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94124A2-8F51-2D39-8467-AFC8A1072145}"/>
              </a:ext>
            </a:extLst>
          </p:cNvPr>
          <p:cNvSpPr txBox="1">
            <a:spLocks/>
          </p:cNvSpPr>
          <p:nvPr/>
        </p:nvSpPr>
        <p:spPr>
          <a:xfrm>
            <a:off x="761014" y="1884498"/>
            <a:ext cx="10063544" cy="3991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rgbClr val="00482B"/>
                </a:solidFill>
                <a:latin typeface="이화체" panose="02000300000000000000" pitchFamily="2" charset="-127"/>
                <a:ea typeface="이화체" panose="02000300000000000000" pitchFamily="2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4300" dirty="0"/>
              <a:t>Handling Missing Value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: One-hot encoding including ‘unknown’</a:t>
            </a:r>
          </a:p>
          <a:p>
            <a:pPr>
              <a:lnSpc>
                <a:spcPct val="150000"/>
              </a:lnSpc>
            </a:pPr>
            <a:r>
              <a:rPr lang="en-US" altLang="ko-KR" b="0" i="0" dirty="0">
                <a:solidFill>
                  <a:schemeClr val="bg1">
                    <a:lumMod val="65000"/>
                  </a:schemeClr>
                </a:solidFill>
                <a:effectLst/>
                <a:highlight>
                  <a:srgbClr val="F8F9FA"/>
                </a:highlight>
                <a:latin typeface="Apple SD Gothic Neo"/>
              </a:rPr>
              <a:t>'unknown’ may also have some meaning</a:t>
            </a:r>
          </a:p>
          <a:p>
            <a:pPr>
              <a:lnSpc>
                <a:spcPct val="150000"/>
              </a:lnSpc>
            </a:pPr>
            <a:endParaRPr lang="en-US" altLang="ko-KR" b="0" i="0" dirty="0">
              <a:solidFill>
                <a:srgbClr val="202124"/>
              </a:solidFill>
              <a:effectLst/>
              <a:highlight>
                <a:srgbClr val="F8F9FA"/>
              </a:highlight>
              <a:latin typeface="Apple SD Gothic Neo"/>
            </a:endParaRPr>
          </a:p>
          <a:p>
            <a:pPr>
              <a:lnSpc>
                <a:spcPct val="150000"/>
              </a:lnSpc>
            </a:pPr>
            <a:r>
              <a:rPr lang="en-US" altLang="ko-KR" b="0" i="0" dirty="0">
                <a:solidFill>
                  <a:srgbClr val="202124"/>
                </a:solidFill>
                <a:effectLst/>
                <a:highlight>
                  <a:srgbClr val="FFFF00"/>
                </a:highlight>
                <a:latin typeface="Apple SD Gothic Neo"/>
              </a:rPr>
              <a:t>No special handling</a:t>
            </a:r>
            <a:r>
              <a:rPr lang="en-US" altLang="ko-KR" b="0" i="0" dirty="0">
                <a:solidFill>
                  <a:srgbClr val="202124"/>
                </a:solidFill>
                <a:effectLst/>
                <a:highlight>
                  <a:srgbClr val="F8F9FA"/>
                </a:highlight>
                <a:latin typeface="Apple SD Gothic Neo"/>
              </a:rPr>
              <a:t>.</a:t>
            </a:r>
            <a:br>
              <a:rPr lang="en-US" altLang="ko-KR" dirty="0"/>
            </a:br>
            <a:r>
              <a:rPr lang="en-US" altLang="ko-KR" dirty="0"/>
              <a:t>But, </a:t>
            </a:r>
            <a:r>
              <a:rPr lang="en-US" altLang="ko-KR" sz="2500" b="0" i="0" dirty="0">
                <a:solidFill>
                  <a:srgbClr val="202124"/>
                </a:solidFill>
                <a:effectLst/>
                <a:highlight>
                  <a:srgbClr val="F8F9FA"/>
                </a:highlight>
                <a:latin typeface="Apple SD Gothic Neo"/>
              </a:rPr>
              <a:t>We also tried changing ‘unknown’ to the average or mode.</a:t>
            </a:r>
            <a:endParaRPr lang="en-US" altLang="ko-KR" sz="25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748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6824" y="213166"/>
            <a:ext cx="10063544" cy="815756"/>
          </a:xfrm>
        </p:spPr>
        <p:txBody>
          <a:bodyPr/>
          <a:lstStyle/>
          <a:p>
            <a:r>
              <a:rPr lang="en-US" altLang="ko-KR" dirty="0"/>
              <a:t>Preprocessing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94124A2-8F51-2D39-8467-AFC8A1072145}"/>
              </a:ext>
            </a:extLst>
          </p:cNvPr>
          <p:cNvSpPr txBox="1">
            <a:spLocks/>
          </p:cNvSpPr>
          <p:nvPr/>
        </p:nvSpPr>
        <p:spPr>
          <a:xfrm>
            <a:off x="693779" y="1284416"/>
            <a:ext cx="10063544" cy="3991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rgbClr val="00482B"/>
                </a:solidFill>
                <a:latin typeface="이화체" panose="02000300000000000000" pitchFamily="2" charset="-127"/>
                <a:ea typeface="이화체" panose="02000300000000000000" pitchFamily="2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4300" dirty="0"/>
              <a:t>Delete Columns - categorical</a:t>
            </a:r>
          </a:p>
          <a:p>
            <a:pPr>
              <a:lnSpc>
                <a:spcPct val="150000"/>
              </a:lnSpc>
            </a:pPr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</a:rPr>
              <a:t>: Check the relationship between </a:t>
            </a:r>
            <a:r>
              <a:rPr lang="en-US" altLang="ko-KR" sz="3000" b="1" dirty="0">
                <a:solidFill>
                  <a:schemeClr val="bg2">
                    <a:lumMod val="10000"/>
                  </a:schemeClr>
                </a:solidFill>
              </a:rPr>
              <a:t>all categories and y=1 </a:t>
            </a:r>
            <a:r>
              <a:rPr lang="en-US" altLang="ko-KR" sz="3000" dirty="0">
                <a:solidFill>
                  <a:schemeClr val="bg2">
                    <a:lumMod val="10000"/>
                  </a:schemeClr>
                </a:solidFill>
              </a:rPr>
              <a:t>for each column.</a:t>
            </a:r>
          </a:p>
        </p:txBody>
      </p:sp>
    </p:spTree>
    <p:extLst>
      <p:ext uri="{BB962C8B-B14F-4D97-AF65-F5344CB8AC3E}">
        <p14:creationId xmlns:p14="http://schemas.microsoft.com/office/powerpoint/2010/main" val="1391644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6824" y="213166"/>
            <a:ext cx="10063544" cy="815756"/>
          </a:xfrm>
        </p:spPr>
        <p:txBody>
          <a:bodyPr/>
          <a:lstStyle/>
          <a:p>
            <a:r>
              <a:rPr lang="en-US" altLang="ko-KR" dirty="0"/>
              <a:t>Preprocessing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94124A2-8F51-2D39-8467-AFC8A1072145}"/>
              </a:ext>
            </a:extLst>
          </p:cNvPr>
          <p:cNvSpPr txBox="1">
            <a:spLocks/>
          </p:cNvSpPr>
          <p:nvPr/>
        </p:nvSpPr>
        <p:spPr>
          <a:xfrm>
            <a:off x="639991" y="1701274"/>
            <a:ext cx="10063544" cy="3991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rgbClr val="00482B"/>
                </a:solidFill>
                <a:latin typeface="이화체" panose="02000300000000000000" pitchFamily="2" charset="-127"/>
                <a:ea typeface="이화체" panose="02000300000000000000" pitchFamily="2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In all case where housing = ‘no’,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	&gt; about </a:t>
            </a:r>
            <a:r>
              <a:rPr lang="en-US" altLang="ko-KR" u="sng" dirty="0">
                <a:solidFill>
                  <a:schemeClr val="bg2">
                    <a:lumMod val="10000"/>
                  </a:schemeClr>
                </a:solidFill>
              </a:rPr>
              <a:t>12% 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of the data is y=1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In all case where housing = ‘yes’,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	&gt; about </a:t>
            </a:r>
            <a:r>
              <a:rPr lang="en-US" altLang="ko-KR" u="sng" dirty="0">
                <a:solidFill>
                  <a:schemeClr val="bg2">
                    <a:lumMod val="10000"/>
                  </a:schemeClr>
                </a:solidFill>
              </a:rPr>
              <a:t>13%</a:t>
            </a:r>
            <a:r>
              <a:rPr lang="en-US" altLang="ko-KR" dirty="0">
                <a:solidFill>
                  <a:schemeClr val="bg2">
                    <a:lumMod val="10000"/>
                  </a:schemeClr>
                </a:solidFill>
              </a:rPr>
              <a:t> of the data is y=1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4300" dirty="0"/>
              <a:t>Cannot distinguish y=1 using ‘housing’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12B14-5ECB-3F2F-908F-8689EDF8CFF0}"/>
              </a:ext>
            </a:extLst>
          </p:cNvPr>
          <p:cNvSpPr txBox="1"/>
          <p:nvPr/>
        </p:nvSpPr>
        <p:spPr>
          <a:xfrm>
            <a:off x="5641041" y="2971800"/>
            <a:ext cx="914400" cy="9144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77500" lnSpcReduction="20000"/>
          </a:bodyPr>
          <a:lstStyle/>
          <a:p>
            <a:pPr algn="l">
              <a:lnSpc>
                <a:spcPct val="200000"/>
              </a:lnSpc>
            </a:pPr>
            <a:endParaRPr lang="ko-KR" altLang="en-US" sz="4300" dirty="0"/>
          </a:p>
        </p:txBody>
      </p:sp>
    </p:spTree>
    <p:extLst>
      <p:ext uri="{BB962C8B-B14F-4D97-AF65-F5344CB8AC3E}">
        <p14:creationId xmlns:p14="http://schemas.microsoft.com/office/powerpoint/2010/main" val="995339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6824" y="213166"/>
            <a:ext cx="10063544" cy="815756"/>
          </a:xfrm>
        </p:spPr>
        <p:txBody>
          <a:bodyPr/>
          <a:lstStyle/>
          <a:p>
            <a:r>
              <a:rPr lang="en-US" altLang="ko-KR" dirty="0"/>
              <a:t>Preprocessing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94124A2-8F51-2D39-8467-AFC8A1072145}"/>
              </a:ext>
            </a:extLst>
          </p:cNvPr>
          <p:cNvSpPr txBox="1">
            <a:spLocks/>
          </p:cNvSpPr>
          <p:nvPr/>
        </p:nvSpPr>
        <p:spPr>
          <a:xfrm>
            <a:off x="609269" y="621044"/>
            <a:ext cx="10063544" cy="3991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rgbClr val="00482B"/>
                </a:solidFill>
                <a:latin typeface="이화체" panose="02000300000000000000" pitchFamily="2" charset="-127"/>
                <a:ea typeface="이화체" panose="02000300000000000000" pitchFamily="2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3600" dirty="0"/>
              <a:t>Delete Columns – numerical</a:t>
            </a:r>
          </a:p>
          <a:p>
            <a:pPr>
              <a:lnSpc>
                <a:spcPct val="150000"/>
              </a:lnSpc>
            </a:pPr>
            <a:r>
              <a:rPr lang="en-US" altLang="ko-KR" sz="3600" dirty="0"/>
              <a:t>: check the distribution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12B14-5ECB-3F2F-908F-8689EDF8CFF0}"/>
              </a:ext>
            </a:extLst>
          </p:cNvPr>
          <p:cNvSpPr txBox="1"/>
          <p:nvPr/>
        </p:nvSpPr>
        <p:spPr>
          <a:xfrm>
            <a:off x="5641041" y="2971800"/>
            <a:ext cx="914400" cy="9144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77500" lnSpcReduction="20000"/>
          </a:bodyPr>
          <a:lstStyle/>
          <a:p>
            <a:pPr algn="l">
              <a:lnSpc>
                <a:spcPct val="200000"/>
              </a:lnSpc>
            </a:pPr>
            <a:endParaRPr lang="ko-KR" altLang="en-US" sz="43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92B9004-F495-313A-CAC0-3F65A954B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29" y="3149008"/>
            <a:ext cx="5344271" cy="327705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B0EC91D-1A31-1EDB-8FB6-E862B0A05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987" y="3287672"/>
            <a:ext cx="5153744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13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6824" y="213166"/>
            <a:ext cx="10063544" cy="815756"/>
          </a:xfrm>
        </p:spPr>
        <p:txBody>
          <a:bodyPr/>
          <a:lstStyle/>
          <a:p>
            <a:r>
              <a:rPr lang="en-US" altLang="ko-KR" dirty="0"/>
              <a:t>Preprocessing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94124A2-8F51-2D39-8467-AFC8A1072145}"/>
              </a:ext>
            </a:extLst>
          </p:cNvPr>
          <p:cNvSpPr txBox="1">
            <a:spLocks/>
          </p:cNvSpPr>
          <p:nvPr/>
        </p:nvSpPr>
        <p:spPr>
          <a:xfrm>
            <a:off x="617310" y="1219006"/>
            <a:ext cx="10063544" cy="3991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rgbClr val="00482B"/>
                </a:solidFill>
                <a:latin typeface="이화체" panose="02000300000000000000" pitchFamily="2" charset="-127"/>
                <a:ea typeface="이화체" panose="02000300000000000000" pitchFamily="2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4300" dirty="0"/>
              <a:t>one-hot encoding &amp; additional delete</a:t>
            </a:r>
          </a:p>
          <a:p>
            <a:pPr>
              <a:lnSpc>
                <a:spcPct val="150000"/>
              </a:lnSpc>
            </a:pPr>
            <a:r>
              <a:rPr lang="en-US" altLang="ko-KR" sz="3000" dirty="0">
                <a:solidFill>
                  <a:schemeClr val="bg1">
                    <a:lumMod val="50000"/>
                  </a:schemeClr>
                </a:solidFill>
              </a:rPr>
              <a:t>: Apply to all categorical columns</a:t>
            </a:r>
          </a:p>
          <a:p>
            <a:pPr>
              <a:lnSpc>
                <a:spcPct val="150000"/>
              </a:lnSpc>
            </a:pPr>
            <a:endParaRPr lang="en-US" altLang="ko-KR" sz="30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3000" b="1" dirty="0">
                <a:solidFill>
                  <a:schemeClr val="bg2">
                    <a:lumMod val="10000"/>
                  </a:schemeClr>
                </a:solidFill>
              </a:rPr>
              <a:t>Check y=1 ratio for each category -&gt; delete</a:t>
            </a:r>
          </a:p>
        </p:txBody>
      </p:sp>
    </p:spTree>
    <p:extLst>
      <p:ext uri="{BB962C8B-B14F-4D97-AF65-F5344CB8AC3E}">
        <p14:creationId xmlns:p14="http://schemas.microsoft.com/office/powerpoint/2010/main" val="3283674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6824" y="213166"/>
            <a:ext cx="10063544" cy="815756"/>
          </a:xfrm>
        </p:spPr>
        <p:txBody>
          <a:bodyPr/>
          <a:lstStyle/>
          <a:p>
            <a:r>
              <a:rPr lang="en-US" altLang="ko-KR" dirty="0"/>
              <a:t>Preprocessing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94124A2-8F51-2D39-8467-AFC8A1072145}"/>
              </a:ext>
            </a:extLst>
          </p:cNvPr>
          <p:cNvSpPr txBox="1">
            <a:spLocks/>
          </p:cNvSpPr>
          <p:nvPr/>
        </p:nvSpPr>
        <p:spPr>
          <a:xfrm>
            <a:off x="800190" y="1885211"/>
            <a:ext cx="10063544" cy="3991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rgbClr val="00482B"/>
                </a:solidFill>
                <a:latin typeface="이화체" panose="02000300000000000000" pitchFamily="2" charset="-127"/>
                <a:ea typeface="이화체" panose="02000300000000000000" pitchFamily="2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['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marital_divorced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</a:t>
            </a:r>
          </a:p>
          <a:p>
            <a:pPr>
              <a:lnSpc>
                <a:spcPct val="150000"/>
              </a:lnSpc>
            </a:pP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      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marital_married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marital_single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marital_unknown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job_admin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.',</a:t>
            </a:r>
          </a:p>
          <a:p>
            <a:pPr>
              <a:lnSpc>
                <a:spcPct val="150000"/>
              </a:lnSpc>
            </a:pP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      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job_blue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-collar',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job_entrepreneur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job_housemaid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</a:t>
            </a:r>
          </a:p>
          <a:p>
            <a:pPr>
              <a:lnSpc>
                <a:spcPct val="150000"/>
              </a:lnSpc>
            </a:pP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      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job_management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job_self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-employed',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job_services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</a:t>
            </a:r>
          </a:p>
          <a:p>
            <a:pPr>
              <a:lnSpc>
                <a:spcPct val="150000"/>
              </a:lnSpc>
            </a:pP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      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job_student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job_technician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job_unemployed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job_unknown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</a:t>
            </a:r>
          </a:p>
          <a:p>
            <a:pPr>
              <a:lnSpc>
                <a:spcPct val="150000"/>
              </a:lnSpc>
            </a:pP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       'education_basic.4y', 'education_basic.6y', 'educaztion_basic.9y',</a:t>
            </a:r>
          </a:p>
          <a:p>
            <a:pPr>
              <a:lnSpc>
                <a:spcPct val="150000"/>
              </a:lnSpc>
            </a:pP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      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education_high.school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 </a:t>
            </a:r>
          </a:p>
          <a:p>
            <a:pPr>
              <a:lnSpc>
                <a:spcPct val="150000"/>
              </a:lnSpc>
            </a:pP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      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education_professional.course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education_unknown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default_unknown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default_yes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’,</a:t>
            </a:r>
          </a:p>
          <a:p>
            <a:pPr>
              <a:lnSpc>
                <a:spcPct val="150000"/>
              </a:lnSpc>
            </a:pP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      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contact_telephone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month_apr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month_aug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’,</a:t>
            </a:r>
          </a:p>
          <a:p>
            <a:pPr>
              <a:lnSpc>
                <a:spcPct val="150000"/>
              </a:lnSpc>
            </a:pP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      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month_jul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month_jun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month_may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</a:t>
            </a:r>
          </a:p>
          <a:p>
            <a:pPr>
              <a:lnSpc>
                <a:spcPct val="150000"/>
              </a:lnSpc>
            </a:pP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      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month_nov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’,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poutcome_failure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',</a:t>
            </a:r>
          </a:p>
          <a:p>
            <a:pPr>
              <a:lnSpc>
                <a:spcPct val="150000"/>
              </a:lnSpc>
            </a:pP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       '</a:t>
            </a:r>
            <a:r>
              <a:rPr lang="en-US" altLang="ko-KR" sz="1500" b="1" dirty="0" err="1">
                <a:solidFill>
                  <a:schemeClr val="bg2">
                    <a:lumMod val="10000"/>
                  </a:schemeClr>
                </a:solidFill>
              </a:rPr>
              <a:t>poutcome_nonexistent</a:t>
            </a:r>
            <a:r>
              <a:rPr lang="en-US" altLang="ko-KR" sz="1500" b="1" dirty="0">
                <a:solidFill>
                  <a:schemeClr val="bg2">
                    <a:lumMod val="10000"/>
                  </a:schemeClr>
                </a:solidFill>
              </a:rPr>
              <a:t>']</a:t>
            </a:r>
          </a:p>
        </p:txBody>
      </p:sp>
    </p:spTree>
    <p:extLst>
      <p:ext uri="{BB962C8B-B14F-4D97-AF65-F5344CB8AC3E}">
        <p14:creationId xmlns:p14="http://schemas.microsoft.com/office/powerpoint/2010/main" val="2194344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6824" y="213166"/>
            <a:ext cx="10063544" cy="815756"/>
          </a:xfrm>
        </p:spPr>
        <p:txBody>
          <a:bodyPr/>
          <a:lstStyle/>
          <a:p>
            <a:r>
              <a:rPr lang="en-US" altLang="ko-KR" dirty="0"/>
              <a:t>Preprocessing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94124A2-8F51-2D39-8467-AFC8A1072145}"/>
              </a:ext>
            </a:extLst>
          </p:cNvPr>
          <p:cNvSpPr txBox="1">
            <a:spLocks/>
          </p:cNvSpPr>
          <p:nvPr/>
        </p:nvSpPr>
        <p:spPr>
          <a:xfrm>
            <a:off x="924320" y="1046232"/>
            <a:ext cx="10063544" cy="3991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rgbClr val="00482B"/>
                </a:solidFill>
                <a:latin typeface="이화체" panose="02000300000000000000" pitchFamily="2" charset="-127"/>
                <a:ea typeface="이화체" panose="02000300000000000000" pitchFamily="2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4300" dirty="0"/>
              <a:t>Scaling ‘</a:t>
            </a:r>
            <a:r>
              <a:rPr lang="en-US" altLang="ko-KR" sz="4300" dirty="0" err="1"/>
              <a:t>pdays</a:t>
            </a:r>
            <a:r>
              <a:rPr lang="en-US" altLang="ko-KR" sz="4300" dirty="0"/>
              <a:t>’</a:t>
            </a:r>
          </a:p>
          <a:p>
            <a:pPr>
              <a:lnSpc>
                <a:spcPct val="150000"/>
              </a:lnSpc>
            </a:pPr>
            <a:r>
              <a:rPr lang="en-US" altLang="ko-KR" sz="4300" dirty="0"/>
              <a:t>: 999 -&gt; -1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B991A9-5142-1086-EA27-EDAFEF3BA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78" y="2137325"/>
            <a:ext cx="4640302" cy="29001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AA1924-4015-A444-565E-1DE2C4738A4B}"/>
              </a:ext>
            </a:extLst>
          </p:cNvPr>
          <p:cNvSpPr txBox="1"/>
          <p:nvPr/>
        </p:nvSpPr>
        <p:spPr>
          <a:xfrm>
            <a:off x="924320" y="5020203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77500" lnSpcReduction="20000"/>
          </a:bodyPr>
          <a:lstStyle/>
          <a:p>
            <a:pPr algn="l">
              <a:lnSpc>
                <a:spcPct val="200000"/>
              </a:lnSpc>
            </a:pPr>
            <a:r>
              <a:rPr lang="en-US" altLang="ko-KR" sz="4300" dirty="0">
                <a:solidFill>
                  <a:schemeClr val="bg1">
                    <a:lumMod val="65000"/>
                  </a:schemeClr>
                </a:solidFill>
              </a:rPr>
              <a:t>999 : have not been contacted </a:t>
            </a:r>
            <a:endParaRPr lang="ko-KR" altLang="en-US" sz="43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542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6824" y="213166"/>
            <a:ext cx="10063544" cy="815756"/>
          </a:xfrm>
        </p:spPr>
        <p:txBody>
          <a:bodyPr/>
          <a:lstStyle/>
          <a:p>
            <a:r>
              <a:rPr lang="en-US" altLang="ko-KR" dirty="0"/>
              <a:t>Preprocessing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94124A2-8F51-2D39-8467-AFC8A1072145}"/>
              </a:ext>
            </a:extLst>
          </p:cNvPr>
          <p:cNvSpPr txBox="1">
            <a:spLocks/>
          </p:cNvSpPr>
          <p:nvPr/>
        </p:nvSpPr>
        <p:spPr>
          <a:xfrm>
            <a:off x="701854" y="2072473"/>
            <a:ext cx="11223721" cy="3991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rgbClr val="00482B"/>
                </a:solidFill>
                <a:latin typeface="이화체" panose="02000300000000000000" pitchFamily="2" charset="-127"/>
                <a:ea typeface="이화체" panose="02000300000000000000" pitchFamily="2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4300" dirty="0"/>
              <a:t>Data </a:t>
            </a:r>
            <a:r>
              <a:rPr lang="en-US" altLang="ko-KR" sz="4300" dirty="0" err="1"/>
              <a:t>Spliting</a:t>
            </a:r>
            <a:r>
              <a:rPr lang="en-US" altLang="ko-KR" sz="4300" dirty="0"/>
              <a:t> &amp; Oversampling </a:t>
            </a:r>
            <a:r>
              <a:rPr lang="en-US" altLang="ko-KR" sz="4300" dirty="0">
                <a:highlight>
                  <a:srgbClr val="FFFF00"/>
                </a:highlight>
              </a:rPr>
              <a:t>SMOTEENN</a:t>
            </a:r>
          </a:p>
          <a:p>
            <a:pPr>
              <a:lnSpc>
                <a:spcPct val="150000"/>
              </a:lnSpc>
            </a:pPr>
            <a:r>
              <a:rPr lang="en-US" altLang="ko-KR" sz="4300" dirty="0"/>
              <a:t>: class imbalance of target </a:t>
            </a:r>
          </a:p>
          <a:p>
            <a:pPr>
              <a:lnSpc>
                <a:spcPct val="150000"/>
              </a:lnSpc>
            </a:pPr>
            <a:endParaRPr lang="en-US" altLang="ko-KR" sz="4300" dirty="0"/>
          </a:p>
          <a:p>
            <a:r>
              <a:rPr lang="en-US" altLang="ko-KR" sz="2400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smoteenn</a:t>
            </a:r>
            <a:r>
              <a:rPr lang="en-US" altLang="ko-KR" sz="24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 = SMOTEENN(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random_state</a:t>
            </a:r>
            <a:r>
              <a:rPr lang="en-US" altLang="ko-KR" sz="24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=</a:t>
            </a:r>
            <a:r>
              <a:rPr lang="en-US" altLang="ko-KR" sz="2400" b="0" dirty="0">
                <a:solidFill>
                  <a:srgbClr val="116644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12</a:t>
            </a:r>
            <a:r>
              <a:rPr lang="en-US" altLang="ko-KR" sz="24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)</a:t>
            </a:r>
          </a:p>
          <a:p>
            <a:r>
              <a:rPr lang="en-US" altLang="ko-KR" sz="2400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X_smoteenn</a:t>
            </a:r>
            <a:r>
              <a:rPr lang="en-US" altLang="ko-KR" sz="24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 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y_smoteenn</a:t>
            </a:r>
            <a:r>
              <a:rPr lang="en-US" altLang="ko-KR" sz="24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 = </a:t>
            </a:r>
          </a:p>
          <a:p>
            <a:r>
              <a:rPr lang="en-US" altLang="ko-KR" sz="2400" dirty="0">
                <a:solidFill>
                  <a:srgbClr val="000000"/>
                </a:solidFill>
                <a:highlight>
                  <a:srgbClr val="F7F7F7"/>
                </a:highlight>
                <a:latin typeface="Courier New" panose="02070309020205020404" pitchFamily="49" charset="0"/>
              </a:rPr>
              <a:t>	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smoteenn.fit_resample</a:t>
            </a:r>
            <a:r>
              <a:rPr lang="en-US" altLang="ko-KR" sz="24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(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X_train</a:t>
            </a:r>
            <a:r>
              <a:rPr lang="en-US" altLang="ko-KR" sz="24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, </a:t>
            </a:r>
            <a:r>
              <a:rPr lang="en-US" altLang="ko-KR" sz="2400" b="0" dirty="0" err="1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y_train</a:t>
            </a:r>
            <a:r>
              <a:rPr lang="en-US" altLang="ko-KR" sz="2400" b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4300" dirty="0"/>
          </a:p>
        </p:txBody>
      </p:sp>
    </p:spTree>
    <p:extLst>
      <p:ext uri="{BB962C8B-B14F-4D97-AF65-F5344CB8AC3E}">
        <p14:creationId xmlns:p14="http://schemas.microsoft.com/office/powerpoint/2010/main" val="2671369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6824" y="213166"/>
            <a:ext cx="10063544" cy="815756"/>
          </a:xfrm>
        </p:spPr>
        <p:txBody>
          <a:bodyPr/>
          <a:lstStyle/>
          <a:p>
            <a:r>
              <a:rPr lang="en-US" altLang="ko-KR" dirty="0"/>
              <a:t>Training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94124A2-8F51-2D39-8467-AFC8A1072145}"/>
              </a:ext>
            </a:extLst>
          </p:cNvPr>
          <p:cNvSpPr txBox="1">
            <a:spLocks/>
          </p:cNvSpPr>
          <p:nvPr/>
        </p:nvSpPr>
        <p:spPr>
          <a:xfrm>
            <a:off x="822720" y="1713889"/>
            <a:ext cx="10063544" cy="3991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rgbClr val="00482B"/>
                </a:solidFill>
                <a:latin typeface="이화체" panose="02000300000000000000" pitchFamily="2" charset="-127"/>
                <a:ea typeface="이화체" panose="02000300000000000000" pitchFamily="2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5000" dirty="0"/>
              <a:t>Model Training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Random Forest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Gradient Boost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</a:rPr>
              <a:t>Adaboost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</a:rPr>
              <a:t>LightGBM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60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94124A2-8F51-2D39-8467-AFC8A1072145}"/>
              </a:ext>
            </a:extLst>
          </p:cNvPr>
          <p:cNvSpPr txBox="1">
            <a:spLocks/>
          </p:cNvSpPr>
          <p:nvPr/>
        </p:nvSpPr>
        <p:spPr>
          <a:xfrm>
            <a:off x="837234" y="1433359"/>
            <a:ext cx="10063544" cy="3991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rgbClr val="00482B"/>
                </a:solidFill>
                <a:latin typeface="이화체" panose="02000300000000000000" pitchFamily="2" charset="-127"/>
                <a:ea typeface="이화체" panose="02000300000000000000" pitchFamily="2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5000" dirty="0"/>
              <a:t>Random Forest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Base : decision tree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Ensemble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Parameter optimizing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47AD44-1FC9-1D9D-3700-B5C2EA93F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85" y="1801368"/>
            <a:ext cx="4797481" cy="36232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C2D72A-4D0C-6BBB-0A06-A65150844E91}"/>
              </a:ext>
            </a:extLst>
          </p:cNvPr>
          <p:cNvSpPr txBox="1"/>
          <p:nvPr/>
        </p:nvSpPr>
        <p:spPr>
          <a:xfrm>
            <a:off x="4720316" y="5424640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77500" lnSpcReduction="20000"/>
          </a:bodyPr>
          <a:lstStyle/>
          <a:p>
            <a:pPr algn="l">
              <a:lnSpc>
                <a:spcPct val="200000"/>
              </a:lnSpc>
            </a:pPr>
            <a:r>
              <a:rPr lang="en-US" altLang="ko-KR" sz="4300" dirty="0"/>
              <a:t>F1score : 0.4621643612693246</a:t>
            </a:r>
            <a:endParaRPr lang="ko-KR" altLang="en-US" sz="4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F78322-2AA4-96AE-949E-5665CD97685B}"/>
              </a:ext>
            </a:extLst>
          </p:cNvPr>
          <p:cNvSpPr txBox="1"/>
          <p:nvPr/>
        </p:nvSpPr>
        <p:spPr>
          <a:xfrm>
            <a:off x="445359" y="361680"/>
            <a:ext cx="14665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DLaM Display" panose="020F0502020204030204" pitchFamily="2" charset="0"/>
              </a:rPr>
              <a:t>Model Training </a:t>
            </a:r>
            <a:endParaRPr lang="ko-KR" altLang="en-US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ADLaM Display" panose="020F05020202040302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B9523D-6A1B-F003-09C1-E02B35CF14F4}"/>
              </a:ext>
            </a:extLst>
          </p:cNvPr>
          <p:cNvSpPr txBox="1"/>
          <p:nvPr/>
        </p:nvSpPr>
        <p:spPr>
          <a:xfrm>
            <a:off x="4558204" y="392056"/>
            <a:ext cx="4977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Random Forest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08CD343-B022-6D2F-85A1-6BA1C4FA5FC2}"/>
              </a:ext>
            </a:extLst>
          </p:cNvPr>
          <p:cNvGrpSpPr/>
          <p:nvPr/>
        </p:nvGrpSpPr>
        <p:grpSpPr>
          <a:xfrm>
            <a:off x="3999238" y="435327"/>
            <a:ext cx="432620" cy="423904"/>
            <a:chOff x="3647768" y="2143432"/>
            <a:chExt cx="432620" cy="423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FA973D13-BC0D-0B98-764A-B172DAB9A5AE}"/>
                </a:ext>
              </a:extLst>
            </p:cNvPr>
            <p:cNvSpPr/>
            <p:nvPr/>
          </p:nvSpPr>
          <p:spPr>
            <a:xfrm>
              <a:off x="3647768" y="2143432"/>
              <a:ext cx="432620" cy="403123"/>
            </a:xfrm>
            <a:prstGeom prst="ellipse">
              <a:avLst/>
            </a:prstGeom>
            <a:solidFill>
              <a:srgbClr val="40745F"/>
            </a:solidFill>
            <a:ln>
              <a:solidFill>
                <a:srgbClr val="4074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A45AFBB-AD32-4AFA-D430-EBB31645FC4B}"/>
                </a:ext>
              </a:extLst>
            </p:cNvPr>
            <p:cNvSpPr txBox="1"/>
            <p:nvPr/>
          </p:nvSpPr>
          <p:spPr>
            <a:xfrm>
              <a:off x="3691536" y="2167226"/>
              <a:ext cx="331229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chemeClr val="bg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2438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94124A2-8F51-2D39-8467-AFC8A1072145}"/>
              </a:ext>
            </a:extLst>
          </p:cNvPr>
          <p:cNvSpPr txBox="1">
            <a:spLocks/>
          </p:cNvSpPr>
          <p:nvPr/>
        </p:nvSpPr>
        <p:spPr>
          <a:xfrm>
            <a:off x="850681" y="1621618"/>
            <a:ext cx="10063544" cy="3991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rgbClr val="00482B"/>
                </a:solidFill>
                <a:latin typeface="이화체" panose="02000300000000000000" pitchFamily="2" charset="-127"/>
                <a:ea typeface="이화체" panose="02000300000000000000" pitchFamily="2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5000" dirty="0"/>
              <a:t>Gradient Boost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Ensemble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Independent trees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Correcting err.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With 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</a:rPr>
              <a:t>gridSearchCV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9293303-32BE-CB21-DB06-8CF3071A4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324" y="2574872"/>
            <a:ext cx="6107174" cy="20509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3A3A6E-601B-ABCE-2BC6-30A2307AA678}"/>
              </a:ext>
            </a:extLst>
          </p:cNvPr>
          <p:cNvSpPr txBox="1"/>
          <p:nvPr/>
        </p:nvSpPr>
        <p:spPr>
          <a:xfrm>
            <a:off x="445359" y="361680"/>
            <a:ext cx="14665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DLaM Display" panose="020F0502020204030204" pitchFamily="2" charset="0"/>
              </a:rPr>
              <a:t>Model Training </a:t>
            </a:r>
            <a:endParaRPr lang="ko-KR" altLang="en-US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ADLaM Display" panose="020F05020202040302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4E1394-0CCC-29DC-CFDC-4A8256C59484}"/>
              </a:ext>
            </a:extLst>
          </p:cNvPr>
          <p:cNvSpPr txBox="1"/>
          <p:nvPr/>
        </p:nvSpPr>
        <p:spPr>
          <a:xfrm>
            <a:off x="4558204" y="392056"/>
            <a:ext cx="4977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Gradient Boost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5447689-5E75-3B24-F91E-3EC86A898228}"/>
              </a:ext>
            </a:extLst>
          </p:cNvPr>
          <p:cNvGrpSpPr/>
          <p:nvPr/>
        </p:nvGrpSpPr>
        <p:grpSpPr>
          <a:xfrm>
            <a:off x="3999238" y="435327"/>
            <a:ext cx="432620" cy="423904"/>
            <a:chOff x="3647768" y="2143432"/>
            <a:chExt cx="432620" cy="423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DE033ED-3B1A-B3C5-0890-B1BA2C7D45AF}"/>
                </a:ext>
              </a:extLst>
            </p:cNvPr>
            <p:cNvSpPr/>
            <p:nvPr/>
          </p:nvSpPr>
          <p:spPr>
            <a:xfrm>
              <a:off x="3647768" y="2143432"/>
              <a:ext cx="432620" cy="403123"/>
            </a:xfrm>
            <a:prstGeom prst="ellipse">
              <a:avLst/>
            </a:prstGeom>
            <a:solidFill>
              <a:srgbClr val="40745F"/>
            </a:solidFill>
            <a:ln>
              <a:solidFill>
                <a:srgbClr val="4074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80CFFEC-68C7-18F9-B200-D50942AACDFC}"/>
                </a:ext>
              </a:extLst>
            </p:cNvPr>
            <p:cNvSpPr txBox="1"/>
            <p:nvPr/>
          </p:nvSpPr>
          <p:spPr>
            <a:xfrm>
              <a:off x="3691536" y="2167226"/>
              <a:ext cx="331229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chemeClr val="bg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3828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94124A2-8F51-2D39-8467-AFC8A1072145}"/>
              </a:ext>
            </a:extLst>
          </p:cNvPr>
          <p:cNvSpPr txBox="1">
            <a:spLocks/>
          </p:cNvSpPr>
          <p:nvPr/>
        </p:nvSpPr>
        <p:spPr>
          <a:xfrm>
            <a:off x="420376" y="0"/>
            <a:ext cx="10063544" cy="3991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kern="1200">
                <a:solidFill>
                  <a:srgbClr val="00482B"/>
                </a:solidFill>
                <a:latin typeface="이화체" panose="02000300000000000000" pitchFamily="2" charset="-127"/>
                <a:ea typeface="이화체" panose="02000300000000000000" pitchFamily="2" charset="-127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5000" dirty="0"/>
              <a:t>Gradient Boost – result 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1A2AB10-B9ED-22BE-99E8-99B702F9F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956" y="2950803"/>
            <a:ext cx="7458180" cy="27238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B7E7F5-F812-92AC-E615-D94ACBA23024}"/>
              </a:ext>
            </a:extLst>
          </p:cNvPr>
          <p:cNvSpPr txBox="1"/>
          <p:nvPr/>
        </p:nvSpPr>
        <p:spPr>
          <a:xfrm>
            <a:off x="445359" y="361680"/>
            <a:ext cx="14665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DLaM Display" panose="020F0502020204030204" pitchFamily="2" charset="0"/>
              </a:rPr>
              <a:t>Model Training </a:t>
            </a:r>
            <a:endParaRPr lang="ko-KR" altLang="en-US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ADLaM Display" panose="020F05020202040302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898730-8C87-7E44-FA2C-5B418200EFF3}"/>
              </a:ext>
            </a:extLst>
          </p:cNvPr>
          <p:cNvSpPr txBox="1"/>
          <p:nvPr/>
        </p:nvSpPr>
        <p:spPr>
          <a:xfrm>
            <a:off x="4558204" y="392056"/>
            <a:ext cx="4977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Gradient Boost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0E869CC-B285-AACA-5796-BF09033B1EA2}"/>
              </a:ext>
            </a:extLst>
          </p:cNvPr>
          <p:cNvGrpSpPr/>
          <p:nvPr/>
        </p:nvGrpSpPr>
        <p:grpSpPr>
          <a:xfrm>
            <a:off x="3999238" y="435327"/>
            <a:ext cx="432620" cy="423904"/>
            <a:chOff x="3647768" y="2143432"/>
            <a:chExt cx="432620" cy="423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8E7CF6E-BC10-1506-0BE6-6BF33129B3FB}"/>
                </a:ext>
              </a:extLst>
            </p:cNvPr>
            <p:cNvSpPr/>
            <p:nvPr/>
          </p:nvSpPr>
          <p:spPr>
            <a:xfrm>
              <a:off x="3647768" y="2143432"/>
              <a:ext cx="432620" cy="403123"/>
            </a:xfrm>
            <a:prstGeom prst="ellipse">
              <a:avLst/>
            </a:prstGeom>
            <a:solidFill>
              <a:srgbClr val="40745F"/>
            </a:solidFill>
            <a:ln>
              <a:solidFill>
                <a:srgbClr val="4074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9A60965-2025-1033-B68F-F566CD72EE1C}"/>
                </a:ext>
              </a:extLst>
            </p:cNvPr>
            <p:cNvSpPr txBox="1"/>
            <p:nvPr/>
          </p:nvSpPr>
          <p:spPr>
            <a:xfrm>
              <a:off x="3691536" y="2167226"/>
              <a:ext cx="331229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chemeClr val="bg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2071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5387E4C-15F6-2270-CE8A-69DB3CA88D99}"/>
              </a:ext>
            </a:extLst>
          </p:cNvPr>
          <p:cNvSpPr txBox="1"/>
          <p:nvPr/>
        </p:nvSpPr>
        <p:spPr>
          <a:xfrm>
            <a:off x="445359" y="361680"/>
            <a:ext cx="14665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DLaM Display" panose="020F0502020204030204" pitchFamily="2" charset="0"/>
              </a:rPr>
              <a:t>Model Training </a:t>
            </a:r>
            <a:endParaRPr lang="ko-KR" altLang="en-US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ADLaM Display" panose="020F05020202040302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D290F-8111-EF50-42FA-9C493B55D3B6}"/>
              </a:ext>
            </a:extLst>
          </p:cNvPr>
          <p:cNvSpPr txBox="1"/>
          <p:nvPr/>
        </p:nvSpPr>
        <p:spPr>
          <a:xfrm>
            <a:off x="5174024" y="491668"/>
            <a:ext cx="2491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Ada Boost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89D224E-EA33-63B0-7B0B-B48B05527CEF}"/>
              </a:ext>
            </a:extLst>
          </p:cNvPr>
          <p:cNvGrpSpPr/>
          <p:nvPr/>
        </p:nvGrpSpPr>
        <p:grpSpPr>
          <a:xfrm>
            <a:off x="4615058" y="534939"/>
            <a:ext cx="432620" cy="423904"/>
            <a:chOff x="3647768" y="2143432"/>
            <a:chExt cx="432620" cy="423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F955B2C-8246-792E-6F1E-BF8676C49A1D}"/>
                </a:ext>
              </a:extLst>
            </p:cNvPr>
            <p:cNvSpPr/>
            <p:nvPr/>
          </p:nvSpPr>
          <p:spPr>
            <a:xfrm>
              <a:off x="3647768" y="2143432"/>
              <a:ext cx="432620" cy="403123"/>
            </a:xfrm>
            <a:prstGeom prst="ellipse">
              <a:avLst/>
            </a:prstGeom>
            <a:solidFill>
              <a:srgbClr val="40745F"/>
            </a:solidFill>
            <a:ln>
              <a:solidFill>
                <a:srgbClr val="4074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7C4253D-AF69-F365-2E62-08E79E9C560C}"/>
                </a:ext>
              </a:extLst>
            </p:cNvPr>
            <p:cNvSpPr txBox="1"/>
            <p:nvPr/>
          </p:nvSpPr>
          <p:spPr>
            <a:xfrm>
              <a:off x="3691536" y="2167226"/>
              <a:ext cx="331229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chemeClr val="bg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3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3FCDD1C-A547-3BD6-7BC4-7DF5AF88330C}"/>
              </a:ext>
            </a:extLst>
          </p:cNvPr>
          <p:cNvSpPr txBox="1"/>
          <p:nvPr/>
        </p:nvSpPr>
        <p:spPr>
          <a:xfrm>
            <a:off x="501654" y="1385846"/>
            <a:ext cx="6670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 Boosting by giving weight to error data of the weak learner</a:t>
            </a:r>
            <a:endParaRPr lang="ko-KR" altLang="en-US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15" name="그림 1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74A289A3-FDF6-EB7C-1790-996C7AC32E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86" y="2783290"/>
            <a:ext cx="7237716" cy="23989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10CE9E-4435-38D4-01DE-E185A501C992}"/>
              </a:ext>
            </a:extLst>
          </p:cNvPr>
          <p:cNvSpPr txBox="1"/>
          <p:nvPr/>
        </p:nvSpPr>
        <p:spPr>
          <a:xfrm>
            <a:off x="599168" y="2530258"/>
            <a:ext cx="2004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GridSearchCV</a:t>
            </a:r>
            <a:endParaRPr lang="ko-KR" altLang="en-US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7CEA80-E5AA-4B4F-D456-4C2CAED224F5}"/>
              </a:ext>
            </a:extLst>
          </p:cNvPr>
          <p:cNvSpPr txBox="1"/>
          <p:nvPr/>
        </p:nvSpPr>
        <p:spPr>
          <a:xfrm>
            <a:off x="1891173" y="5165783"/>
            <a:ext cx="8016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Specifies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the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number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of </a:t>
            </a: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learners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Larger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values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increase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complexity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improve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</a:t>
            </a: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performance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and </a:t>
            </a: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risk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of </a:t>
            </a:r>
            <a:r>
              <a:rPr lang="ko-KR" altLang="en-US" sz="1200" dirty="0" err="1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overfitting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392455-32DF-C7AE-4ACB-4DE89D951A24}"/>
              </a:ext>
            </a:extLst>
          </p:cNvPr>
          <p:cNvSpPr txBox="1"/>
          <p:nvPr/>
        </p:nvSpPr>
        <p:spPr>
          <a:xfrm>
            <a:off x="1875245" y="5645699"/>
            <a:ext cx="8016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The deeper the depth, the greater the complexity, the risk of overfitting.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246098-1034-C8CE-563F-13475BB3E78E}"/>
              </a:ext>
            </a:extLst>
          </p:cNvPr>
          <p:cNvSpPr txBox="1"/>
          <p:nvPr/>
        </p:nvSpPr>
        <p:spPr>
          <a:xfrm>
            <a:off x="1908335" y="5989125"/>
            <a:ext cx="54913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Adjusts contribution. The higher it is, the higher the learning speed. </a:t>
            </a:r>
          </a:p>
          <a:p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Risk of model not being optimized.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AD4835EF-BE6D-0C9B-0FD0-08E8D1743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002" y="2810673"/>
            <a:ext cx="4437988" cy="25119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FAAE620-D69A-D134-97EF-8027B7BA343F}"/>
              </a:ext>
            </a:extLst>
          </p:cNvPr>
          <p:cNvSpPr txBox="1"/>
          <p:nvPr/>
        </p:nvSpPr>
        <p:spPr>
          <a:xfrm>
            <a:off x="7563002" y="2330203"/>
            <a:ext cx="2738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Feature Importance</a:t>
            </a:r>
            <a:endParaRPr lang="ko-KR" altLang="en-US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7F5E949-1781-BBF2-D598-92F119934A13}"/>
              </a:ext>
            </a:extLst>
          </p:cNvPr>
          <p:cNvGrpSpPr/>
          <p:nvPr/>
        </p:nvGrpSpPr>
        <p:grpSpPr>
          <a:xfrm>
            <a:off x="599168" y="1884849"/>
            <a:ext cx="5668006" cy="435626"/>
            <a:chOff x="584860" y="1883193"/>
            <a:chExt cx="6328262" cy="41502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F7E70FBE-5694-5E6C-A49F-209E251FD82B}"/>
                </a:ext>
              </a:extLst>
            </p:cNvPr>
            <p:cNvSpPr/>
            <p:nvPr/>
          </p:nvSpPr>
          <p:spPr>
            <a:xfrm>
              <a:off x="584860" y="1883193"/>
              <a:ext cx="6328262" cy="415029"/>
            </a:xfrm>
            <a:prstGeom prst="roundRect">
              <a:avLst>
                <a:gd name="adj" fmla="val 31711"/>
              </a:avLst>
            </a:prstGeom>
            <a:solidFill>
              <a:srgbClr val="E9F1E9"/>
            </a:solidFill>
            <a:ln>
              <a:noFill/>
            </a:ln>
            <a:effectLst>
              <a:outerShdw blurRad="50800" dist="38100" dir="2700000" algn="tl" rotWithShape="0">
                <a:srgbClr val="40745F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6DAB1E8-1AE6-D8FF-FFE8-C630572EB8DA}"/>
                </a:ext>
              </a:extLst>
            </p:cNvPr>
            <p:cNvSpPr txBox="1"/>
            <p:nvPr/>
          </p:nvSpPr>
          <p:spPr>
            <a:xfrm>
              <a:off x="929245" y="1940372"/>
              <a:ext cx="5823167" cy="293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from </a:t>
              </a:r>
              <a:r>
                <a:rPr lang="en-US" altLang="ko-KR" sz="1400" dirty="0" err="1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sklearn.ensemble</a:t>
              </a:r>
              <a:r>
                <a:rPr lang="en-US" altLang="ko-KR" sz="1400" dirty="0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import </a:t>
              </a:r>
              <a:r>
                <a:rPr lang="en-US" altLang="ko-KR" sz="1400" dirty="0" err="1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AdaBoostClassifier</a:t>
              </a:r>
              <a:endParaRPr lang="en-US" altLang="ko-KR" sz="1400" dirty="0">
                <a:solidFill>
                  <a:srgbClr val="40745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0E5A6806-D092-8B2F-02EA-88DA89F4727D}"/>
              </a:ext>
            </a:extLst>
          </p:cNvPr>
          <p:cNvGrpSpPr/>
          <p:nvPr/>
        </p:nvGrpSpPr>
        <p:grpSpPr>
          <a:xfrm>
            <a:off x="452695" y="5214511"/>
            <a:ext cx="1379277" cy="301128"/>
            <a:chOff x="4982114" y="4552206"/>
            <a:chExt cx="1346358" cy="301128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CF322F6E-72C3-0565-D0CE-23A31A6228E2}"/>
                </a:ext>
              </a:extLst>
            </p:cNvPr>
            <p:cNvSpPr/>
            <p:nvPr/>
          </p:nvSpPr>
          <p:spPr>
            <a:xfrm>
              <a:off x="4982114" y="4552206"/>
              <a:ext cx="1346358" cy="301128"/>
            </a:xfrm>
            <a:prstGeom prst="roundRect">
              <a:avLst>
                <a:gd name="adj" fmla="val 50000"/>
              </a:avLst>
            </a:prstGeom>
            <a:solidFill>
              <a:srgbClr val="F4E7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47EF13F-D9B2-419A-6BEB-1E199ADB8269}"/>
                </a:ext>
              </a:extLst>
            </p:cNvPr>
            <p:cNvSpPr txBox="1"/>
            <p:nvPr/>
          </p:nvSpPr>
          <p:spPr>
            <a:xfrm>
              <a:off x="5113094" y="4564900"/>
              <a:ext cx="121034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 err="1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n_estimators</a:t>
              </a:r>
              <a:endParaRPr lang="ko-KR" altLang="en-US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257DA7C-C07D-D059-3831-044038ED2FF0}"/>
              </a:ext>
            </a:extLst>
          </p:cNvPr>
          <p:cNvGrpSpPr/>
          <p:nvPr/>
        </p:nvGrpSpPr>
        <p:grpSpPr>
          <a:xfrm>
            <a:off x="452696" y="5653852"/>
            <a:ext cx="1847819" cy="299523"/>
            <a:chOff x="5015674" y="4460608"/>
            <a:chExt cx="1752780" cy="299523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D6108190-3160-F324-F228-1319650DB919}"/>
                </a:ext>
              </a:extLst>
            </p:cNvPr>
            <p:cNvSpPr/>
            <p:nvPr/>
          </p:nvSpPr>
          <p:spPr>
            <a:xfrm>
              <a:off x="5015674" y="4460608"/>
              <a:ext cx="1303520" cy="299523"/>
            </a:xfrm>
            <a:prstGeom prst="roundRect">
              <a:avLst>
                <a:gd name="adj" fmla="val 50000"/>
              </a:avLst>
            </a:prstGeom>
            <a:solidFill>
              <a:srgbClr val="F4E7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F7FBDBA-F86C-DD0B-B05C-BE2F51377650}"/>
                </a:ext>
              </a:extLst>
            </p:cNvPr>
            <p:cNvSpPr txBox="1"/>
            <p:nvPr/>
          </p:nvSpPr>
          <p:spPr>
            <a:xfrm>
              <a:off x="5056494" y="4473787"/>
              <a:ext cx="17119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 err="1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base_estimator</a:t>
              </a:r>
              <a:r>
                <a:rPr lang="en-US" altLang="ko-KR" sz="1200" dirty="0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 </a:t>
              </a:r>
              <a:endParaRPr lang="ko-KR" altLang="en-US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114916E-93EC-8047-8B2C-1533ED0BFA48}"/>
              </a:ext>
            </a:extLst>
          </p:cNvPr>
          <p:cNvGrpSpPr/>
          <p:nvPr/>
        </p:nvGrpSpPr>
        <p:grpSpPr>
          <a:xfrm>
            <a:off x="458287" y="6091588"/>
            <a:ext cx="1368610" cy="304596"/>
            <a:chOff x="5038932" y="4386606"/>
            <a:chExt cx="1267534" cy="304596"/>
          </a:xfrm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92C07850-3D11-5F4C-8404-EDC9908D42D0}"/>
                </a:ext>
              </a:extLst>
            </p:cNvPr>
            <p:cNvSpPr/>
            <p:nvPr/>
          </p:nvSpPr>
          <p:spPr>
            <a:xfrm>
              <a:off x="5038932" y="4386606"/>
              <a:ext cx="1267534" cy="304596"/>
            </a:xfrm>
            <a:prstGeom prst="roundRect">
              <a:avLst>
                <a:gd name="adj" fmla="val 50000"/>
              </a:avLst>
            </a:prstGeom>
            <a:solidFill>
              <a:srgbClr val="F4E7FF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0BABF07-1F15-A8F2-180E-CCE4CE87FF73}"/>
                </a:ext>
              </a:extLst>
            </p:cNvPr>
            <p:cNvSpPr txBox="1"/>
            <p:nvPr/>
          </p:nvSpPr>
          <p:spPr>
            <a:xfrm>
              <a:off x="5110814" y="4396916"/>
              <a:ext cx="111859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 err="1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learning_rate</a:t>
              </a:r>
              <a:r>
                <a:rPr lang="en-US" altLang="ko-KR" sz="1200" dirty="0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 </a:t>
              </a:r>
              <a:endParaRPr lang="ko-KR" altLang="en-US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8808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5387E4C-15F6-2270-CE8A-69DB3CA88D99}"/>
              </a:ext>
            </a:extLst>
          </p:cNvPr>
          <p:cNvSpPr txBox="1"/>
          <p:nvPr/>
        </p:nvSpPr>
        <p:spPr>
          <a:xfrm>
            <a:off x="445359" y="361680"/>
            <a:ext cx="14665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DLaM Display" panose="020F0502020204030204" pitchFamily="2" charset="0"/>
              </a:rPr>
              <a:t>Model Training </a:t>
            </a:r>
            <a:endParaRPr lang="ko-KR" altLang="en-US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ADLaM Display" panose="020F05020202040302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D290F-8111-EF50-42FA-9C493B55D3B6}"/>
              </a:ext>
            </a:extLst>
          </p:cNvPr>
          <p:cNvSpPr txBox="1"/>
          <p:nvPr/>
        </p:nvSpPr>
        <p:spPr>
          <a:xfrm>
            <a:off x="5174024" y="491668"/>
            <a:ext cx="2491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Ada Boost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89D224E-EA33-63B0-7B0B-B48B05527CEF}"/>
              </a:ext>
            </a:extLst>
          </p:cNvPr>
          <p:cNvGrpSpPr/>
          <p:nvPr/>
        </p:nvGrpSpPr>
        <p:grpSpPr>
          <a:xfrm>
            <a:off x="4615058" y="534939"/>
            <a:ext cx="432620" cy="423904"/>
            <a:chOff x="3647768" y="2143432"/>
            <a:chExt cx="432620" cy="423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F955B2C-8246-792E-6F1E-BF8676C49A1D}"/>
                </a:ext>
              </a:extLst>
            </p:cNvPr>
            <p:cNvSpPr/>
            <p:nvPr/>
          </p:nvSpPr>
          <p:spPr>
            <a:xfrm>
              <a:off x="3647768" y="2143432"/>
              <a:ext cx="432620" cy="403123"/>
            </a:xfrm>
            <a:prstGeom prst="ellipse">
              <a:avLst/>
            </a:prstGeom>
            <a:solidFill>
              <a:srgbClr val="40745F"/>
            </a:solidFill>
            <a:ln>
              <a:solidFill>
                <a:srgbClr val="4074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7C4253D-AF69-F365-2E62-08E79E9C560C}"/>
                </a:ext>
              </a:extLst>
            </p:cNvPr>
            <p:cNvSpPr txBox="1"/>
            <p:nvPr/>
          </p:nvSpPr>
          <p:spPr>
            <a:xfrm>
              <a:off x="3691536" y="2167226"/>
              <a:ext cx="331229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chemeClr val="bg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3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3FCDD1C-A547-3BD6-7BC4-7DF5AF88330C}"/>
              </a:ext>
            </a:extLst>
          </p:cNvPr>
          <p:cNvSpPr txBox="1"/>
          <p:nvPr/>
        </p:nvSpPr>
        <p:spPr>
          <a:xfrm>
            <a:off x="501654" y="1385846"/>
            <a:ext cx="6670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 Boosting by giving weight to error data of the weak learner</a:t>
            </a:r>
            <a:endParaRPr lang="ko-KR" altLang="en-US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7F5E949-1781-BBF2-D598-92F119934A13}"/>
              </a:ext>
            </a:extLst>
          </p:cNvPr>
          <p:cNvGrpSpPr/>
          <p:nvPr/>
        </p:nvGrpSpPr>
        <p:grpSpPr>
          <a:xfrm>
            <a:off x="599168" y="1884849"/>
            <a:ext cx="5668006" cy="435626"/>
            <a:chOff x="584860" y="1883193"/>
            <a:chExt cx="6328262" cy="41502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F7E70FBE-5694-5E6C-A49F-209E251FD82B}"/>
                </a:ext>
              </a:extLst>
            </p:cNvPr>
            <p:cNvSpPr/>
            <p:nvPr/>
          </p:nvSpPr>
          <p:spPr>
            <a:xfrm>
              <a:off x="584860" y="1883193"/>
              <a:ext cx="6328262" cy="415029"/>
            </a:xfrm>
            <a:prstGeom prst="roundRect">
              <a:avLst>
                <a:gd name="adj" fmla="val 31711"/>
              </a:avLst>
            </a:prstGeom>
            <a:solidFill>
              <a:srgbClr val="E9F1E9"/>
            </a:solidFill>
            <a:ln>
              <a:noFill/>
            </a:ln>
            <a:effectLst>
              <a:outerShdw blurRad="50800" dist="38100" dir="2700000" algn="tl" rotWithShape="0">
                <a:srgbClr val="40745F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6DAB1E8-1AE6-D8FF-FFE8-C630572EB8DA}"/>
                </a:ext>
              </a:extLst>
            </p:cNvPr>
            <p:cNvSpPr txBox="1"/>
            <p:nvPr/>
          </p:nvSpPr>
          <p:spPr>
            <a:xfrm>
              <a:off x="929245" y="1940372"/>
              <a:ext cx="5823167" cy="293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from </a:t>
              </a:r>
              <a:r>
                <a:rPr lang="en-US" altLang="ko-KR" sz="1400" dirty="0" err="1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sklearn.ensemble</a:t>
              </a:r>
              <a:r>
                <a:rPr lang="en-US" altLang="ko-KR" sz="1400" dirty="0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import </a:t>
              </a:r>
              <a:r>
                <a:rPr lang="en-US" altLang="ko-KR" sz="1400" dirty="0" err="1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AdaBoostClassifier</a:t>
              </a:r>
              <a:endParaRPr lang="en-US" altLang="ko-KR" sz="1400" dirty="0">
                <a:solidFill>
                  <a:srgbClr val="40745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3A6D8A8D-11C7-E151-EF14-BF861B4F6C9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95111" y="2772653"/>
            <a:ext cx="4561553" cy="27310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4A4F68-8307-24F2-988D-3946F860EA8F}"/>
              </a:ext>
            </a:extLst>
          </p:cNvPr>
          <p:cNvSpPr txBox="1"/>
          <p:nvPr/>
        </p:nvSpPr>
        <p:spPr>
          <a:xfrm>
            <a:off x="491487" y="2649525"/>
            <a:ext cx="2004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Optimal Model</a:t>
            </a:r>
            <a:endParaRPr lang="ko-KR" altLang="en-US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F8282F-B0ED-CC72-B991-8E4EF9AEE253}"/>
              </a:ext>
            </a:extLst>
          </p:cNvPr>
          <p:cNvSpPr txBox="1"/>
          <p:nvPr/>
        </p:nvSpPr>
        <p:spPr>
          <a:xfrm>
            <a:off x="7395111" y="2320475"/>
            <a:ext cx="2004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Result</a:t>
            </a:r>
            <a:endParaRPr lang="ko-KR" altLang="en-US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B836C1E1-78ED-617A-9B20-4385F98E8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95" y="2942833"/>
            <a:ext cx="7043563" cy="2983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5072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5387E4C-15F6-2270-CE8A-69DB3CA88D99}"/>
              </a:ext>
            </a:extLst>
          </p:cNvPr>
          <p:cNvSpPr txBox="1"/>
          <p:nvPr/>
        </p:nvSpPr>
        <p:spPr>
          <a:xfrm>
            <a:off x="445359" y="361680"/>
            <a:ext cx="14665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DLaM Display" panose="020F0502020204030204" pitchFamily="2" charset="0"/>
              </a:rPr>
              <a:t>Model Training </a:t>
            </a:r>
            <a:endParaRPr lang="ko-KR" altLang="en-US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ADLaM Display" panose="020F05020202040302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D290F-8111-EF50-42FA-9C493B55D3B6}"/>
              </a:ext>
            </a:extLst>
          </p:cNvPr>
          <p:cNvSpPr txBox="1"/>
          <p:nvPr/>
        </p:nvSpPr>
        <p:spPr>
          <a:xfrm>
            <a:off x="5174024" y="491668"/>
            <a:ext cx="2491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LightGBM</a:t>
            </a:r>
            <a:endParaRPr lang="en-US" altLang="ko-KR" sz="28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89D224E-EA33-63B0-7B0B-B48B05527CEF}"/>
              </a:ext>
            </a:extLst>
          </p:cNvPr>
          <p:cNvGrpSpPr/>
          <p:nvPr/>
        </p:nvGrpSpPr>
        <p:grpSpPr>
          <a:xfrm>
            <a:off x="4615058" y="534939"/>
            <a:ext cx="432620" cy="423904"/>
            <a:chOff x="3647768" y="2143432"/>
            <a:chExt cx="432620" cy="423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F955B2C-8246-792E-6F1E-BF8676C49A1D}"/>
                </a:ext>
              </a:extLst>
            </p:cNvPr>
            <p:cNvSpPr/>
            <p:nvPr/>
          </p:nvSpPr>
          <p:spPr>
            <a:xfrm>
              <a:off x="3647768" y="2143432"/>
              <a:ext cx="432620" cy="403123"/>
            </a:xfrm>
            <a:prstGeom prst="ellipse">
              <a:avLst/>
            </a:prstGeom>
            <a:solidFill>
              <a:srgbClr val="40745F"/>
            </a:solidFill>
            <a:ln>
              <a:solidFill>
                <a:srgbClr val="4074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7C4253D-AF69-F365-2E62-08E79E9C560C}"/>
                </a:ext>
              </a:extLst>
            </p:cNvPr>
            <p:cNvSpPr txBox="1"/>
            <p:nvPr/>
          </p:nvSpPr>
          <p:spPr>
            <a:xfrm>
              <a:off x="3691536" y="2167226"/>
              <a:ext cx="331229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chemeClr val="bg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4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E007773-74EA-7E7F-C914-B6D59C04724C}"/>
              </a:ext>
            </a:extLst>
          </p:cNvPr>
          <p:cNvSpPr txBox="1"/>
          <p:nvPr/>
        </p:nvSpPr>
        <p:spPr>
          <a:xfrm>
            <a:off x="451637" y="1358439"/>
            <a:ext cx="9192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 automatically finds rules in data through learning and creates tree-based classification rules</a:t>
            </a:r>
            <a:endParaRPr lang="ko-KR" altLang="en-US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6AF2A-56C5-B9D2-22AF-B7D087F8C671}"/>
              </a:ext>
            </a:extLst>
          </p:cNvPr>
          <p:cNvSpPr txBox="1"/>
          <p:nvPr/>
        </p:nvSpPr>
        <p:spPr>
          <a:xfrm>
            <a:off x="451636" y="1726975"/>
            <a:ext cx="9192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 the tree size must be appropriately adjusted to prevent complexity and overfitting</a:t>
            </a:r>
            <a:endParaRPr lang="ko-KR" altLang="en-US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9E4D969-8783-3D04-957F-2E97E9989EF9}"/>
              </a:ext>
            </a:extLst>
          </p:cNvPr>
          <p:cNvGrpSpPr/>
          <p:nvPr/>
        </p:nvGrpSpPr>
        <p:grpSpPr>
          <a:xfrm>
            <a:off x="540802" y="2243829"/>
            <a:ext cx="4633222" cy="435626"/>
            <a:chOff x="584860" y="1883193"/>
            <a:chExt cx="6328262" cy="415029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2CC5EAC9-B8E8-CCCD-39C0-194007CB3A4B}"/>
                </a:ext>
              </a:extLst>
            </p:cNvPr>
            <p:cNvSpPr/>
            <p:nvPr/>
          </p:nvSpPr>
          <p:spPr>
            <a:xfrm>
              <a:off x="584860" y="1883193"/>
              <a:ext cx="6328262" cy="415029"/>
            </a:xfrm>
            <a:prstGeom prst="roundRect">
              <a:avLst>
                <a:gd name="adj" fmla="val 31711"/>
              </a:avLst>
            </a:prstGeom>
            <a:solidFill>
              <a:srgbClr val="E9F1E9"/>
            </a:solidFill>
            <a:ln>
              <a:noFill/>
            </a:ln>
            <a:effectLst>
              <a:outerShdw blurRad="50800" dist="38100" dir="2700000" algn="tl" rotWithShape="0">
                <a:srgbClr val="40745F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37A1E18-F499-A6AD-BC77-F2AF385ECE49}"/>
                </a:ext>
              </a:extLst>
            </p:cNvPr>
            <p:cNvSpPr txBox="1"/>
            <p:nvPr/>
          </p:nvSpPr>
          <p:spPr>
            <a:xfrm>
              <a:off x="929245" y="1940372"/>
              <a:ext cx="5823167" cy="293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from </a:t>
              </a:r>
              <a:r>
                <a:rPr lang="en-US" altLang="ko-KR" sz="1400" dirty="0" err="1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lightgbm</a:t>
              </a:r>
              <a:r>
                <a:rPr lang="en-US" altLang="ko-KR" sz="1400" dirty="0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import </a:t>
              </a:r>
              <a:r>
                <a:rPr lang="en-US" altLang="ko-KR" sz="1400" dirty="0" err="1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LGBMClassifier</a:t>
              </a:r>
              <a:endParaRPr lang="en-US" altLang="ko-KR" sz="1400" dirty="0">
                <a:solidFill>
                  <a:srgbClr val="40745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50C97A7-ABE8-BCB7-3E7D-0F8A7BDB08E3}"/>
              </a:ext>
            </a:extLst>
          </p:cNvPr>
          <p:cNvSpPr txBox="1"/>
          <p:nvPr/>
        </p:nvSpPr>
        <p:spPr>
          <a:xfrm>
            <a:off x="450849" y="3123047"/>
            <a:ext cx="2004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GridSearchCV</a:t>
            </a:r>
            <a:endParaRPr lang="ko-KR" altLang="en-US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pic>
        <p:nvPicPr>
          <p:cNvPr id="18" name="그림 17" descr="텍스트, 스크린샷, 디스플레이, 폰트이(가) 표시된 사진&#10;&#10;자동 생성된 설명">
            <a:extLst>
              <a:ext uri="{FF2B5EF4-FFF2-40B4-BE49-F238E27FC236}">
                <a16:creationId xmlns:a16="http://schemas.microsoft.com/office/drawing/2014/main" id="{D20CE22A-37A7-12F5-56A9-A05714A61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85" y="3517037"/>
            <a:ext cx="5463904" cy="28657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1E6CDF55-CD62-43CE-6361-351EB8A08DA1}"/>
              </a:ext>
            </a:extLst>
          </p:cNvPr>
          <p:cNvGrpSpPr/>
          <p:nvPr/>
        </p:nvGrpSpPr>
        <p:grpSpPr>
          <a:xfrm>
            <a:off x="5790989" y="3388948"/>
            <a:ext cx="3142625" cy="302297"/>
            <a:chOff x="630823" y="4805475"/>
            <a:chExt cx="3142625" cy="30229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168BB177-BD8B-725F-A609-EA4B71D32D8B}"/>
                </a:ext>
              </a:extLst>
            </p:cNvPr>
            <p:cNvGrpSpPr/>
            <p:nvPr/>
          </p:nvGrpSpPr>
          <p:grpSpPr>
            <a:xfrm>
              <a:off x="630823" y="4805475"/>
              <a:ext cx="1379277" cy="301128"/>
              <a:chOff x="4982114" y="4552206"/>
              <a:chExt cx="1346358" cy="301128"/>
            </a:xfrm>
          </p:grpSpPr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2EABB280-6159-0700-FBD3-96B2451FBAF5}"/>
                  </a:ext>
                </a:extLst>
              </p:cNvPr>
              <p:cNvSpPr/>
              <p:nvPr/>
            </p:nvSpPr>
            <p:spPr>
              <a:xfrm>
                <a:off x="4982114" y="4552206"/>
                <a:ext cx="1346358" cy="301128"/>
              </a:xfrm>
              <a:prstGeom prst="roundRect">
                <a:avLst>
                  <a:gd name="adj" fmla="val 50000"/>
                </a:avLst>
              </a:prstGeom>
              <a:solidFill>
                <a:srgbClr val="F4E7FF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FF6A5BE-E713-37BD-A428-09FD6467593C}"/>
                  </a:ext>
                </a:extLst>
              </p:cNvPr>
              <p:cNvSpPr txBox="1"/>
              <p:nvPr/>
            </p:nvSpPr>
            <p:spPr>
              <a:xfrm>
                <a:off x="5113094" y="4564900"/>
                <a:ext cx="121034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200" dirty="0" err="1"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n_estimators</a:t>
                </a:r>
                <a:endParaRPr lang="ko-KR" altLang="en-US" sz="1200" dirty="0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4D041E7-2AFD-B9F8-143A-40B40234AC1B}"/>
                </a:ext>
              </a:extLst>
            </p:cNvPr>
            <p:cNvSpPr txBox="1"/>
            <p:nvPr/>
          </p:nvSpPr>
          <p:spPr>
            <a:xfrm>
              <a:off x="2057011" y="4830773"/>
              <a:ext cx="171643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bg2">
                      <a:lumMod val="50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number of trees.</a:t>
              </a:r>
              <a:endParaRPr lang="ko-KR" altLang="en-US" sz="1200" dirty="0">
                <a:solidFill>
                  <a:schemeClr val="bg2">
                    <a:lumMod val="50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BD2F983-D630-B831-B1C7-91563A344D2E}"/>
              </a:ext>
            </a:extLst>
          </p:cNvPr>
          <p:cNvGrpSpPr/>
          <p:nvPr/>
        </p:nvGrpSpPr>
        <p:grpSpPr>
          <a:xfrm>
            <a:off x="5808571" y="5300683"/>
            <a:ext cx="4749209" cy="299523"/>
            <a:chOff x="669330" y="5386170"/>
            <a:chExt cx="4749209" cy="299523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71AAB7BB-CABB-FD61-E13B-F903DCEF414C}"/>
                </a:ext>
              </a:extLst>
            </p:cNvPr>
            <p:cNvGrpSpPr/>
            <p:nvPr/>
          </p:nvGrpSpPr>
          <p:grpSpPr>
            <a:xfrm>
              <a:off x="669330" y="5386170"/>
              <a:ext cx="2030108" cy="299523"/>
              <a:chOff x="5028759" y="4457617"/>
              <a:chExt cx="1925694" cy="299523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98946886-781F-8303-75EC-979B96265B40}"/>
                  </a:ext>
                </a:extLst>
              </p:cNvPr>
              <p:cNvSpPr/>
              <p:nvPr/>
            </p:nvSpPr>
            <p:spPr>
              <a:xfrm>
                <a:off x="5028759" y="4457617"/>
                <a:ext cx="1303520" cy="299523"/>
              </a:xfrm>
              <a:prstGeom prst="roundRect">
                <a:avLst>
                  <a:gd name="adj" fmla="val 50000"/>
                </a:avLst>
              </a:prstGeom>
              <a:solidFill>
                <a:srgbClr val="F4E7FF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11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33CBFDB-901B-8820-1E1A-74B5833AD5E8}"/>
                  </a:ext>
                </a:extLst>
              </p:cNvPr>
              <p:cNvSpPr txBox="1"/>
              <p:nvPr/>
            </p:nvSpPr>
            <p:spPr>
              <a:xfrm>
                <a:off x="5242493" y="4468878"/>
                <a:ext cx="171196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dirty="0" err="1"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reg_alpha</a:t>
                </a:r>
                <a:endParaRPr lang="ko-KR" altLang="en-US" sz="1200" dirty="0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79DAB51-4AAE-DAA5-0A4A-271055E56134}"/>
                </a:ext>
              </a:extLst>
            </p:cNvPr>
            <p:cNvSpPr txBox="1"/>
            <p:nvPr/>
          </p:nvSpPr>
          <p:spPr>
            <a:xfrm>
              <a:off x="2095940" y="5405125"/>
              <a:ext cx="332259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bg2">
                      <a:lumMod val="50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adjust L1 regularization.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9A0EBA7-B446-23FD-BA1A-93512EA58F77}"/>
              </a:ext>
            </a:extLst>
          </p:cNvPr>
          <p:cNvGrpSpPr/>
          <p:nvPr/>
        </p:nvGrpSpPr>
        <p:grpSpPr>
          <a:xfrm>
            <a:off x="5790989" y="2903111"/>
            <a:ext cx="5045562" cy="314774"/>
            <a:chOff x="666717" y="5905683"/>
            <a:chExt cx="5045562" cy="314774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9B3AEE3B-8761-A5C0-1AC2-F48C67CB355D}"/>
                </a:ext>
              </a:extLst>
            </p:cNvPr>
            <p:cNvGrpSpPr/>
            <p:nvPr/>
          </p:nvGrpSpPr>
          <p:grpSpPr>
            <a:xfrm>
              <a:off x="666717" y="5905683"/>
              <a:ext cx="1368610" cy="304596"/>
              <a:chOff x="5038932" y="4386606"/>
              <a:chExt cx="1267534" cy="304596"/>
            </a:xfrm>
          </p:grpSpPr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39C2035D-D6E2-A25D-8A83-38A56B7E8E39}"/>
                  </a:ext>
                </a:extLst>
              </p:cNvPr>
              <p:cNvSpPr/>
              <p:nvPr/>
            </p:nvSpPr>
            <p:spPr>
              <a:xfrm>
                <a:off x="5038932" y="4386606"/>
                <a:ext cx="1267534" cy="304596"/>
              </a:xfrm>
              <a:prstGeom prst="roundRect">
                <a:avLst>
                  <a:gd name="adj" fmla="val 50000"/>
                </a:avLst>
              </a:prstGeom>
              <a:solidFill>
                <a:srgbClr val="F4E7FF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11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DA900D2-AF8F-9997-8207-3B0152077585}"/>
                  </a:ext>
                </a:extLst>
              </p:cNvPr>
              <p:cNvSpPr txBox="1"/>
              <p:nvPr/>
            </p:nvSpPr>
            <p:spPr>
              <a:xfrm>
                <a:off x="5153695" y="4396916"/>
                <a:ext cx="111859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dirty="0" err="1"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learning_rate</a:t>
                </a:r>
                <a:r>
                  <a:rPr lang="en-US" altLang="ko-KR" sz="1200" dirty="0"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 </a:t>
                </a:r>
                <a:endParaRPr lang="ko-KR" altLang="en-US" sz="1200" dirty="0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8F01D8D-0BC8-11CD-C0D0-92F566FEB72F}"/>
                </a:ext>
              </a:extLst>
            </p:cNvPr>
            <p:cNvSpPr txBox="1"/>
            <p:nvPr/>
          </p:nvSpPr>
          <p:spPr>
            <a:xfrm>
              <a:off x="2092904" y="5943458"/>
              <a:ext cx="361937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bg2">
                      <a:lumMod val="50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weights multiplied for each iteration of boosting.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293355D-C360-F9C0-DAB1-B59ABCA6776E}"/>
              </a:ext>
            </a:extLst>
          </p:cNvPr>
          <p:cNvGrpSpPr/>
          <p:nvPr/>
        </p:nvGrpSpPr>
        <p:grpSpPr>
          <a:xfrm>
            <a:off x="5794776" y="4346256"/>
            <a:ext cx="5081969" cy="309724"/>
            <a:chOff x="655336" y="5365019"/>
            <a:chExt cx="5081969" cy="309724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C3C7E84D-9136-52F2-99CE-C32D6ABDC1DA}"/>
                </a:ext>
              </a:extLst>
            </p:cNvPr>
            <p:cNvGrpSpPr/>
            <p:nvPr/>
          </p:nvGrpSpPr>
          <p:grpSpPr>
            <a:xfrm>
              <a:off x="655336" y="5365019"/>
              <a:ext cx="1374199" cy="299523"/>
              <a:chOff x="5015484" y="4436466"/>
              <a:chExt cx="1303520" cy="299523"/>
            </a:xfrm>
          </p:grpSpPr>
          <p:sp>
            <p:nvSpPr>
              <p:cNvPr id="40" name="사각형: 둥근 모서리 39">
                <a:extLst>
                  <a:ext uri="{FF2B5EF4-FFF2-40B4-BE49-F238E27FC236}">
                    <a16:creationId xmlns:a16="http://schemas.microsoft.com/office/drawing/2014/main" id="{68C1500B-9F26-6672-2C78-CA8AAD274CE7}"/>
                  </a:ext>
                </a:extLst>
              </p:cNvPr>
              <p:cNvSpPr/>
              <p:nvPr/>
            </p:nvSpPr>
            <p:spPr>
              <a:xfrm>
                <a:off x="5015484" y="4436466"/>
                <a:ext cx="1303520" cy="299523"/>
              </a:xfrm>
              <a:prstGeom prst="roundRect">
                <a:avLst>
                  <a:gd name="adj" fmla="val 50000"/>
                </a:avLst>
              </a:prstGeom>
              <a:solidFill>
                <a:srgbClr val="F4E7FF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11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A0D5295-1A28-3791-318A-90EA04AEE695}"/>
                  </a:ext>
                </a:extLst>
              </p:cNvPr>
              <p:cNvSpPr txBox="1"/>
              <p:nvPr/>
            </p:nvSpPr>
            <p:spPr>
              <a:xfrm>
                <a:off x="5206168" y="4449783"/>
                <a:ext cx="94652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dirty="0"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subsample</a:t>
                </a:r>
                <a:endParaRPr lang="ko-KR" altLang="en-US" sz="1200" dirty="0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83FB8DA-42E9-290E-2BC2-5F3FF4FDF177}"/>
                </a:ext>
              </a:extLst>
            </p:cNvPr>
            <p:cNvSpPr txBox="1"/>
            <p:nvPr/>
          </p:nvSpPr>
          <p:spPr>
            <a:xfrm>
              <a:off x="2117929" y="5397744"/>
              <a:ext cx="361937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bg2">
                      <a:lumMod val="50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Fraction of data to consider for each iteration.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79455CA-76D9-BA70-C285-DE16DAAB990F}"/>
              </a:ext>
            </a:extLst>
          </p:cNvPr>
          <p:cNvGrpSpPr/>
          <p:nvPr/>
        </p:nvGrpSpPr>
        <p:grpSpPr>
          <a:xfrm>
            <a:off x="5806449" y="4823518"/>
            <a:ext cx="5150743" cy="484425"/>
            <a:chOff x="672801" y="5374848"/>
            <a:chExt cx="5030105" cy="484425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BA6A649C-B375-4144-0E02-48E8B4A79571}"/>
                </a:ext>
              </a:extLst>
            </p:cNvPr>
            <p:cNvGrpSpPr/>
            <p:nvPr/>
          </p:nvGrpSpPr>
          <p:grpSpPr>
            <a:xfrm>
              <a:off x="672801" y="5374848"/>
              <a:ext cx="1804785" cy="299523"/>
              <a:chOff x="5032052" y="4446295"/>
              <a:chExt cx="1711960" cy="299523"/>
            </a:xfrm>
          </p:grpSpPr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A6879DFA-349F-BAFA-A91E-D647600C5F2F}"/>
                  </a:ext>
                </a:extLst>
              </p:cNvPr>
              <p:cNvSpPr/>
              <p:nvPr/>
            </p:nvSpPr>
            <p:spPr>
              <a:xfrm>
                <a:off x="5032052" y="4446295"/>
                <a:ext cx="1303520" cy="299523"/>
              </a:xfrm>
              <a:prstGeom prst="roundRect">
                <a:avLst>
                  <a:gd name="adj" fmla="val 50000"/>
                </a:avLst>
              </a:prstGeom>
              <a:solidFill>
                <a:srgbClr val="F4E7FF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11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4452494-CBB3-9A6D-146E-BE432D57002A}"/>
                  </a:ext>
                </a:extLst>
              </p:cNvPr>
              <p:cNvSpPr txBox="1"/>
              <p:nvPr/>
            </p:nvSpPr>
            <p:spPr>
              <a:xfrm>
                <a:off x="5032052" y="4476277"/>
                <a:ext cx="171196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100" dirty="0" err="1"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colsample_bytree</a:t>
                </a:r>
                <a:endParaRPr lang="ko-KR" altLang="en-US" sz="1100" dirty="0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76B4E9A-437A-21FC-50F4-58C107D309E5}"/>
                </a:ext>
              </a:extLst>
            </p:cNvPr>
            <p:cNvSpPr txBox="1"/>
            <p:nvPr/>
          </p:nvSpPr>
          <p:spPr>
            <a:xfrm>
              <a:off x="2065796" y="5397608"/>
              <a:ext cx="36371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bg2">
                      <a:lumMod val="50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Fraction of features to consider for each iteration.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55689E58-A5AA-34A1-B396-07FED3290009}"/>
              </a:ext>
            </a:extLst>
          </p:cNvPr>
          <p:cNvGrpSpPr/>
          <p:nvPr/>
        </p:nvGrpSpPr>
        <p:grpSpPr>
          <a:xfrm>
            <a:off x="5796067" y="3867718"/>
            <a:ext cx="4558574" cy="306804"/>
            <a:chOff x="662419" y="5378923"/>
            <a:chExt cx="4558574" cy="306804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D38BF42E-151B-A8D6-BB42-89F95FA46708}"/>
                </a:ext>
              </a:extLst>
            </p:cNvPr>
            <p:cNvGrpSpPr/>
            <p:nvPr/>
          </p:nvGrpSpPr>
          <p:grpSpPr>
            <a:xfrm>
              <a:off x="662419" y="5378923"/>
              <a:ext cx="1994935" cy="299523"/>
              <a:chOff x="5022204" y="4450370"/>
              <a:chExt cx="1892330" cy="299523"/>
            </a:xfrm>
          </p:grpSpPr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98A5AB89-9EED-44FA-B2EF-6D225D63AC14}"/>
                  </a:ext>
                </a:extLst>
              </p:cNvPr>
              <p:cNvSpPr/>
              <p:nvPr/>
            </p:nvSpPr>
            <p:spPr>
              <a:xfrm>
                <a:off x="5022204" y="4450370"/>
                <a:ext cx="1303520" cy="299523"/>
              </a:xfrm>
              <a:prstGeom prst="roundRect">
                <a:avLst>
                  <a:gd name="adj" fmla="val 50000"/>
                </a:avLst>
              </a:prstGeom>
              <a:solidFill>
                <a:srgbClr val="F4E7FF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11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E447C89-FABB-9778-9E91-E8A8EFB5828D}"/>
                  </a:ext>
                </a:extLst>
              </p:cNvPr>
              <p:cNvSpPr txBox="1"/>
              <p:nvPr/>
            </p:nvSpPr>
            <p:spPr>
              <a:xfrm>
                <a:off x="5202574" y="4465060"/>
                <a:ext cx="171196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dirty="0" err="1"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num_leaves</a:t>
                </a:r>
                <a:endParaRPr lang="ko-KR" altLang="en-US" sz="1200" dirty="0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79AA1AD-00D3-3F92-00A0-E89007616A9B}"/>
                </a:ext>
              </a:extLst>
            </p:cNvPr>
            <p:cNvSpPr txBox="1"/>
            <p:nvPr/>
          </p:nvSpPr>
          <p:spPr>
            <a:xfrm>
              <a:off x="2065796" y="5408728"/>
              <a:ext cx="315519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bg2">
                      <a:lumMod val="50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the maximum number of leaves per tree.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44727FC-D052-CBFD-C53F-372478BEA9CD}"/>
              </a:ext>
            </a:extLst>
          </p:cNvPr>
          <p:cNvGrpSpPr/>
          <p:nvPr/>
        </p:nvGrpSpPr>
        <p:grpSpPr>
          <a:xfrm>
            <a:off x="5790989" y="5783990"/>
            <a:ext cx="4178675" cy="299523"/>
            <a:chOff x="669330" y="5386170"/>
            <a:chExt cx="4178675" cy="299523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055DC757-25BA-508C-F575-4A449A97751C}"/>
                </a:ext>
              </a:extLst>
            </p:cNvPr>
            <p:cNvGrpSpPr/>
            <p:nvPr/>
          </p:nvGrpSpPr>
          <p:grpSpPr>
            <a:xfrm>
              <a:off x="669330" y="5386170"/>
              <a:ext cx="2030108" cy="299523"/>
              <a:chOff x="5028759" y="4457617"/>
              <a:chExt cx="1925694" cy="299523"/>
            </a:xfrm>
          </p:grpSpPr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6A3A7ED6-7141-9EB1-CF9B-4001875CD032}"/>
                  </a:ext>
                </a:extLst>
              </p:cNvPr>
              <p:cNvSpPr/>
              <p:nvPr/>
            </p:nvSpPr>
            <p:spPr>
              <a:xfrm>
                <a:off x="5028759" y="4457617"/>
                <a:ext cx="1303520" cy="299523"/>
              </a:xfrm>
              <a:prstGeom prst="roundRect">
                <a:avLst>
                  <a:gd name="adj" fmla="val 50000"/>
                </a:avLst>
              </a:prstGeom>
              <a:solidFill>
                <a:srgbClr val="F4E7FF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11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4AB67A3-1950-3768-6075-E84550894900}"/>
                  </a:ext>
                </a:extLst>
              </p:cNvPr>
              <p:cNvSpPr txBox="1"/>
              <p:nvPr/>
            </p:nvSpPr>
            <p:spPr>
              <a:xfrm>
                <a:off x="5242493" y="4468878"/>
                <a:ext cx="171196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dirty="0" err="1">
                    <a:latin typeface="에스코어 드림 5 Medium" panose="020B0503030302020204" pitchFamily="34" charset="-127"/>
                    <a:ea typeface="에스코어 드림 5 Medium" panose="020B0503030302020204" pitchFamily="34" charset="-127"/>
                  </a:rPr>
                  <a:t>reg_lambda</a:t>
                </a:r>
                <a:endParaRPr lang="ko-KR" altLang="en-US" sz="1200" dirty="0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endParaRP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D13678B-734E-11F5-68B1-3BE47C4B277D}"/>
                </a:ext>
              </a:extLst>
            </p:cNvPr>
            <p:cNvSpPr txBox="1"/>
            <p:nvPr/>
          </p:nvSpPr>
          <p:spPr>
            <a:xfrm>
              <a:off x="2125662" y="5406404"/>
              <a:ext cx="272234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bg2">
                      <a:lumMod val="50000"/>
                    </a:schemeClr>
                  </a:solidFill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adjust L2 regularization.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423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5387E4C-15F6-2270-CE8A-69DB3CA88D99}"/>
              </a:ext>
            </a:extLst>
          </p:cNvPr>
          <p:cNvSpPr txBox="1"/>
          <p:nvPr/>
        </p:nvSpPr>
        <p:spPr>
          <a:xfrm>
            <a:off x="445359" y="361680"/>
            <a:ext cx="14665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DLaM Display" panose="020F0502020204030204" pitchFamily="2" charset="0"/>
              </a:rPr>
              <a:t>Model Training </a:t>
            </a:r>
            <a:endParaRPr lang="ko-KR" altLang="en-US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ADLaM Display" panose="020F05020202040302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D290F-8111-EF50-42FA-9C493B55D3B6}"/>
              </a:ext>
            </a:extLst>
          </p:cNvPr>
          <p:cNvSpPr txBox="1"/>
          <p:nvPr/>
        </p:nvSpPr>
        <p:spPr>
          <a:xfrm>
            <a:off x="5174024" y="491668"/>
            <a:ext cx="2491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LightGBM</a:t>
            </a:r>
            <a:endParaRPr lang="en-US" altLang="ko-KR" sz="28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89D224E-EA33-63B0-7B0B-B48B05527CEF}"/>
              </a:ext>
            </a:extLst>
          </p:cNvPr>
          <p:cNvGrpSpPr/>
          <p:nvPr/>
        </p:nvGrpSpPr>
        <p:grpSpPr>
          <a:xfrm>
            <a:off x="4615058" y="534939"/>
            <a:ext cx="432620" cy="423904"/>
            <a:chOff x="3647768" y="2143432"/>
            <a:chExt cx="432620" cy="4239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F955B2C-8246-792E-6F1E-BF8676C49A1D}"/>
                </a:ext>
              </a:extLst>
            </p:cNvPr>
            <p:cNvSpPr/>
            <p:nvPr/>
          </p:nvSpPr>
          <p:spPr>
            <a:xfrm>
              <a:off x="3647768" y="2143432"/>
              <a:ext cx="432620" cy="403123"/>
            </a:xfrm>
            <a:prstGeom prst="ellipse">
              <a:avLst/>
            </a:prstGeom>
            <a:solidFill>
              <a:srgbClr val="40745F"/>
            </a:solidFill>
            <a:ln>
              <a:solidFill>
                <a:srgbClr val="4074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7C4253D-AF69-F365-2E62-08E79E9C560C}"/>
                </a:ext>
              </a:extLst>
            </p:cNvPr>
            <p:cNvSpPr txBox="1"/>
            <p:nvPr/>
          </p:nvSpPr>
          <p:spPr>
            <a:xfrm>
              <a:off x="3691536" y="2167226"/>
              <a:ext cx="331229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chemeClr val="bg1"/>
                  </a:solidFill>
                  <a:latin typeface="G마켓 산스 Bold" panose="02000000000000000000" pitchFamily="50" charset="-127"/>
                  <a:ea typeface="G마켓 산스 Bold" panose="02000000000000000000" pitchFamily="50" charset="-127"/>
                </a:rPr>
                <a:t>4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E007773-74EA-7E7F-C914-B6D59C04724C}"/>
              </a:ext>
            </a:extLst>
          </p:cNvPr>
          <p:cNvSpPr txBox="1"/>
          <p:nvPr/>
        </p:nvSpPr>
        <p:spPr>
          <a:xfrm>
            <a:off x="451637" y="1358439"/>
            <a:ext cx="9192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 automatically finds rules in data through learning and creates tree-based classification rules</a:t>
            </a:r>
            <a:endParaRPr lang="ko-KR" altLang="en-US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6AF2A-56C5-B9D2-22AF-B7D087F8C671}"/>
              </a:ext>
            </a:extLst>
          </p:cNvPr>
          <p:cNvSpPr txBox="1"/>
          <p:nvPr/>
        </p:nvSpPr>
        <p:spPr>
          <a:xfrm>
            <a:off x="451636" y="1726975"/>
            <a:ext cx="9192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 the tree size must be appropriately adjusted to prevent complexity and overfitting</a:t>
            </a:r>
            <a:endParaRPr lang="ko-KR" altLang="en-US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9E4D969-8783-3D04-957F-2E97E9989EF9}"/>
              </a:ext>
            </a:extLst>
          </p:cNvPr>
          <p:cNvGrpSpPr/>
          <p:nvPr/>
        </p:nvGrpSpPr>
        <p:grpSpPr>
          <a:xfrm>
            <a:off x="540802" y="2243829"/>
            <a:ext cx="4633222" cy="435626"/>
            <a:chOff x="584860" y="1883193"/>
            <a:chExt cx="6328262" cy="415029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2CC5EAC9-B8E8-CCCD-39C0-194007CB3A4B}"/>
                </a:ext>
              </a:extLst>
            </p:cNvPr>
            <p:cNvSpPr/>
            <p:nvPr/>
          </p:nvSpPr>
          <p:spPr>
            <a:xfrm>
              <a:off x="584860" y="1883193"/>
              <a:ext cx="6328262" cy="415029"/>
            </a:xfrm>
            <a:prstGeom prst="roundRect">
              <a:avLst>
                <a:gd name="adj" fmla="val 31711"/>
              </a:avLst>
            </a:prstGeom>
            <a:solidFill>
              <a:srgbClr val="E9F1E9"/>
            </a:solidFill>
            <a:ln>
              <a:noFill/>
            </a:ln>
            <a:effectLst>
              <a:outerShdw blurRad="50800" dist="38100" dir="2700000" algn="tl" rotWithShape="0">
                <a:srgbClr val="40745F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37A1E18-F499-A6AD-BC77-F2AF385ECE49}"/>
                </a:ext>
              </a:extLst>
            </p:cNvPr>
            <p:cNvSpPr txBox="1"/>
            <p:nvPr/>
          </p:nvSpPr>
          <p:spPr>
            <a:xfrm>
              <a:off x="929245" y="1940372"/>
              <a:ext cx="5823167" cy="293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from </a:t>
              </a:r>
              <a:r>
                <a:rPr lang="en-US" altLang="ko-KR" sz="1400" dirty="0" err="1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lightgbm</a:t>
              </a:r>
              <a:r>
                <a:rPr lang="en-US" altLang="ko-KR" sz="1400" dirty="0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import </a:t>
              </a:r>
              <a:r>
                <a:rPr lang="en-US" altLang="ko-KR" sz="1400" dirty="0" err="1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LGBMClassifier</a:t>
              </a:r>
              <a:endParaRPr lang="en-US" altLang="ko-KR" sz="1400" dirty="0">
                <a:solidFill>
                  <a:srgbClr val="40745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860AB63-9300-2A88-80FC-AF62DC5B14C3}"/>
              </a:ext>
            </a:extLst>
          </p:cNvPr>
          <p:cNvSpPr txBox="1"/>
          <p:nvPr/>
        </p:nvSpPr>
        <p:spPr>
          <a:xfrm>
            <a:off x="540802" y="2813650"/>
            <a:ext cx="2004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Optimal Model</a:t>
            </a:r>
            <a:endParaRPr lang="ko-KR" altLang="en-US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88C90-5D78-FB86-9C1E-259F3DEDB2A0}"/>
              </a:ext>
            </a:extLst>
          </p:cNvPr>
          <p:cNvSpPr txBox="1"/>
          <p:nvPr/>
        </p:nvSpPr>
        <p:spPr>
          <a:xfrm>
            <a:off x="6347312" y="2343800"/>
            <a:ext cx="2004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Result</a:t>
            </a:r>
            <a:endParaRPr lang="ko-KR" altLang="en-US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pic>
        <p:nvPicPr>
          <p:cNvPr id="4" name="그림 3" descr="텍스트, 스크린샷, 디스플레이, 폰트이(가) 표시된 사진&#10;&#10;자동 생성된 설명">
            <a:extLst>
              <a:ext uri="{FF2B5EF4-FFF2-40B4-BE49-F238E27FC236}">
                <a16:creationId xmlns:a16="http://schemas.microsoft.com/office/drawing/2014/main" id="{B11E0C93-3148-F91B-9172-8950A86E80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73" y="3074407"/>
            <a:ext cx="5858164" cy="37307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E90FC31-2693-5FB6-4007-E81B41BED5D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7253" y="2852540"/>
            <a:ext cx="4808866" cy="26780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4194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5387E4C-15F6-2270-CE8A-69DB3CA88D99}"/>
              </a:ext>
            </a:extLst>
          </p:cNvPr>
          <p:cNvSpPr txBox="1"/>
          <p:nvPr/>
        </p:nvSpPr>
        <p:spPr>
          <a:xfrm>
            <a:off x="445359" y="361680"/>
            <a:ext cx="273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DLaM Display" panose="020F0502020204030204" pitchFamily="2" charset="0"/>
              </a:rPr>
              <a:t>Further ensemble &amp; 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D290F-8111-EF50-42FA-9C493B55D3B6}"/>
              </a:ext>
            </a:extLst>
          </p:cNvPr>
          <p:cNvSpPr txBox="1"/>
          <p:nvPr/>
        </p:nvSpPr>
        <p:spPr>
          <a:xfrm>
            <a:off x="4697369" y="490728"/>
            <a:ext cx="2491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Soft Voting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85F45D-3FAA-7784-FA9E-6606F98457E3}"/>
              </a:ext>
            </a:extLst>
          </p:cNvPr>
          <p:cNvSpPr txBox="1"/>
          <p:nvPr/>
        </p:nvSpPr>
        <p:spPr>
          <a:xfrm>
            <a:off x="4067692" y="2684668"/>
            <a:ext cx="68706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00206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combines predictions from multiple machine learning models </a:t>
            </a:r>
          </a:p>
          <a:p>
            <a:r>
              <a:rPr lang="en-US" altLang="ko-KR" sz="1600" dirty="0">
                <a:solidFill>
                  <a:srgbClr val="00206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to improve performance and reduce overfitting.</a:t>
            </a:r>
          </a:p>
          <a:p>
            <a:endParaRPr lang="ko-KR" altLang="en-US" sz="1600" dirty="0">
              <a:solidFill>
                <a:srgbClr val="00206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DBC070-6F94-5FCA-C695-01C99B2968A9}"/>
              </a:ext>
            </a:extLst>
          </p:cNvPr>
          <p:cNvSpPr txBox="1"/>
          <p:nvPr/>
        </p:nvSpPr>
        <p:spPr>
          <a:xfrm>
            <a:off x="4138476" y="2012412"/>
            <a:ext cx="1582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Voting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3FA0584-E7D2-00CE-C0F1-A11BFF6A6F54}"/>
              </a:ext>
            </a:extLst>
          </p:cNvPr>
          <p:cNvSpPr/>
          <p:nvPr/>
        </p:nvSpPr>
        <p:spPr>
          <a:xfrm>
            <a:off x="950210" y="1678964"/>
            <a:ext cx="1933459" cy="308843"/>
          </a:xfrm>
          <a:prstGeom prst="rect">
            <a:avLst/>
          </a:prstGeom>
          <a:solidFill>
            <a:srgbClr val="2341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Random Forest</a:t>
            </a:r>
            <a:endParaRPr lang="ko-KR" altLang="en-US" sz="14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8D1477-DC79-D003-5387-17178808164C}"/>
              </a:ext>
            </a:extLst>
          </p:cNvPr>
          <p:cNvSpPr/>
          <p:nvPr/>
        </p:nvSpPr>
        <p:spPr>
          <a:xfrm>
            <a:off x="950209" y="2114407"/>
            <a:ext cx="1933459" cy="308843"/>
          </a:xfrm>
          <a:prstGeom prst="rect">
            <a:avLst/>
          </a:prstGeom>
          <a:solidFill>
            <a:srgbClr val="2341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Gradient Boosting</a:t>
            </a:r>
            <a:endParaRPr lang="ko-KR" altLang="en-US" sz="14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D7ABAA-D414-E461-F019-C491D4F85BF2}"/>
              </a:ext>
            </a:extLst>
          </p:cNvPr>
          <p:cNvSpPr/>
          <p:nvPr/>
        </p:nvSpPr>
        <p:spPr>
          <a:xfrm>
            <a:off x="950208" y="2536502"/>
            <a:ext cx="1933459" cy="308843"/>
          </a:xfrm>
          <a:prstGeom prst="rect">
            <a:avLst/>
          </a:prstGeom>
          <a:solidFill>
            <a:srgbClr val="2341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Ada Boost</a:t>
            </a:r>
            <a:endParaRPr lang="ko-KR" altLang="en-US" sz="14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A84A66-18E1-FE2F-2CD2-1154647147D0}"/>
              </a:ext>
            </a:extLst>
          </p:cNvPr>
          <p:cNvSpPr/>
          <p:nvPr/>
        </p:nvSpPr>
        <p:spPr>
          <a:xfrm>
            <a:off x="945184" y="2967824"/>
            <a:ext cx="1933459" cy="308843"/>
          </a:xfrm>
          <a:prstGeom prst="rect">
            <a:avLst/>
          </a:prstGeom>
          <a:solidFill>
            <a:srgbClr val="2341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LightGBM</a:t>
            </a:r>
            <a:endParaRPr lang="ko-KR" altLang="en-US" sz="14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8BC04AE-C334-83C7-C2AB-22A014B3AB68}"/>
              </a:ext>
            </a:extLst>
          </p:cNvPr>
          <p:cNvCxnSpPr>
            <a:cxnSpLocks/>
          </p:cNvCxnSpPr>
          <p:nvPr/>
        </p:nvCxnSpPr>
        <p:spPr>
          <a:xfrm>
            <a:off x="5796731" y="2274022"/>
            <a:ext cx="800119" cy="0"/>
          </a:xfrm>
          <a:prstGeom prst="straightConnector1">
            <a:avLst/>
          </a:prstGeom>
          <a:ln w="12700">
            <a:solidFill>
              <a:srgbClr val="002060"/>
            </a:solidFill>
            <a:miter lim="800000"/>
            <a:headEnd type="none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8672B81-191C-76B4-F63A-96A7D56DCB26}"/>
              </a:ext>
            </a:extLst>
          </p:cNvPr>
          <p:cNvSpPr txBox="1"/>
          <p:nvPr/>
        </p:nvSpPr>
        <p:spPr>
          <a:xfrm>
            <a:off x="6722110" y="2056152"/>
            <a:ext cx="998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output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2BD7F5B-34FB-809B-AABE-40CACE5D4D97}"/>
              </a:ext>
            </a:extLst>
          </p:cNvPr>
          <p:cNvGrpSpPr/>
          <p:nvPr/>
        </p:nvGrpSpPr>
        <p:grpSpPr>
          <a:xfrm>
            <a:off x="2878643" y="1833386"/>
            <a:ext cx="1075987" cy="1288860"/>
            <a:chOff x="2878643" y="1833386"/>
            <a:chExt cx="1075987" cy="1288860"/>
          </a:xfrm>
        </p:grpSpPr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67F1E746-4CDA-1307-B520-E09FC47F8C36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2883667" y="2690924"/>
              <a:ext cx="235977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463832C4-CE5A-5441-BB64-3C5C8E558EDC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 flipV="1">
              <a:off x="2883668" y="2268314"/>
              <a:ext cx="235976" cy="515"/>
            </a:xfrm>
            <a:prstGeom prst="straightConnector1">
              <a:avLst/>
            </a:prstGeom>
            <a:ln w="12700">
              <a:solidFill>
                <a:srgbClr val="002060"/>
              </a:solidFill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25402DB2-1B00-39B9-49F0-206C682B8CDD}"/>
                </a:ext>
              </a:extLst>
            </p:cNvPr>
            <p:cNvCxnSpPr>
              <a:cxnSpLocks/>
            </p:cNvCxnSpPr>
            <p:nvPr/>
          </p:nvCxnSpPr>
          <p:spPr>
            <a:xfrm>
              <a:off x="3119644" y="2268314"/>
              <a:ext cx="834986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miter lim="800000"/>
              <a:headEnd type="none" w="med" len="med"/>
              <a:tailEnd type="stealth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연결선: 꺾임 27">
              <a:extLst>
                <a:ext uri="{FF2B5EF4-FFF2-40B4-BE49-F238E27FC236}">
                  <a16:creationId xmlns:a16="http://schemas.microsoft.com/office/drawing/2014/main" id="{95EA697E-2B33-022E-059B-AE0BB43512BB}"/>
                </a:ext>
              </a:extLst>
            </p:cNvPr>
            <p:cNvCxnSpPr>
              <a:cxnSpLocks/>
              <a:stCxn id="18" idx="3"/>
              <a:endCxn id="21" idx="3"/>
            </p:cNvCxnSpPr>
            <p:nvPr/>
          </p:nvCxnSpPr>
          <p:spPr>
            <a:xfrm flipH="1">
              <a:off x="2878643" y="1833386"/>
              <a:ext cx="5026" cy="1288860"/>
            </a:xfrm>
            <a:prstGeom prst="bentConnector3">
              <a:avLst>
                <a:gd name="adj1" fmla="val -4548349"/>
              </a:avLst>
            </a:prstGeom>
            <a:ln w="127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08997C9-3CDD-0DA1-B292-0A03BCBF544C}"/>
              </a:ext>
            </a:extLst>
          </p:cNvPr>
          <p:cNvGrpSpPr/>
          <p:nvPr/>
        </p:nvGrpSpPr>
        <p:grpSpPr>
          <a:xfrm>
            <a:off x="2664108" y="4881893"/>
            <a:ext cx="2035710" cy="430129"/>
            <a:chOff x="3628689" y="698943"/>
            <a:chExt cx="1370927" cy="439880"/>
          </a:xfrm>
          <a:solidFill>
            <a:schemeClr val="bg1"/>
          </a:solidFill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29AD0623-50D2-3D2F-24E7-98CDB0806AC0}"/>
                </a:ext>
              </a:extLst>
            </p:cNvPr>
            <p:cNvSpPr/>
            <p:nvPr/>
          </p:nvSpPr>
          <p:spPr>
            <a:xfrm>
              <a:off x="3628689" y="698943"/>
              <a:ext cx="1370927" cy="439880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954BB90-B3ED-B07A-477A-8F13B1765274}"/>
                </a:ext>
              </a:extLst>
            </p:cNvPr>
            <p:cNvSpPr txBox="1"/>
            <p:nvPr/>
          </p:nvSpPr>
          <p:spPr>
            <a:xfrm>
              <a:off x="3880306" y="757133"/>
              <a:ext cx="1005951" cy="34622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Soft Voting</a:t>
              </a:r>
              <a:endParaRPr lang="ko-KR" altLang="en-US" sz="16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ED16ED4-A218-E214-E6BD-4C9F30A9DBDB}"/>
              </a:ext>
            </a:extLst>
          </p:cNvPr>
          <p:cNvGrpSpPr/>
          <p:nvPr/>
        </p:nvGrpSpPr>
        <p:grpSpPr>
          <a:xfrm>
            <a:off x="2661659" y="3890176"/>
            <a:ext cx="2035710" cy="430129"/>
            <a:chOff x="3608824" y="698943"/>
            <a:chExt cx="1370927" cy="43988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43F393ED-1281-C59A-CB87-28777DCB38E9}"/>
                </a:ext>
              </a:extLst>
            </p:cNvPr>
            <p:cNvSpPr/>
            <p:nvPr/>
          </p:nvSpPr>
          <p:spPr>
            <a:xfrm>
              <a:off x="3608824" y="698943"/>
              <a:ext cx="1370927" cy="43988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3BB7A5F-C103-2AC5-A034-39F40C6CAC86}"/>
                </a:ext>
              </a:extLst>
            </p:cNvPr>
            <p:cNvSpPr txBox="1"/>
            <p:nvPr/>
          </p:nvSpPr>
          <p:spPr>
            <a:xfrm>
              <a:off x="3835403" y="755756"/>
              <a:ext cx="1005951" cy="3462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Hard Voting</a:t>
              </a:r>
              <a:endParaRPr lang="ko-KR" altLang="en-US" sz="16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8EB07A55-2CC7-F386-2A4E-BB1224D69C36}"/>
              </a:ext>
            </a:extLst>
          </p:cNvPr>
          <p:cNvSpPr txBox="1"/>
          <p:nvPr/>
        </p:nvSpPr>
        <p:spPr>
          <a:xfrm>
            <a:off x="4763508" y="3890176"/>
            <a:ext cx="6129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The final voting result is determined </a:t>
            </a:r>
          </a:p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by </a:t>
            </a:r>
            <a:r>
              <a:rPr lang="en-US" altLang="ko-KR" sz="1400" dirty="0">
                <a:solidFill>
                  <a:srgbClr val="0070C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the decision value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chosen by the majority of classifiers.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123C48-9BA7-A619-5AA9-85274287D648}"/>
              </a:ext>
            </a:extLst>
          </p:cNvPr>
          <p:cNvSpPr txBox="1"/>
          <p:nvPr/>
        </p:nvSpPr>
        <p:spPr>
          <a:xfrm>
            <a:off x="4763508" y="4881893"/>
            <a:ext cx="6668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The final voting result is determined </a:t>
            </a:r>
          </a:p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by averaging </a:t>
            </a:r>
            <a:r>
              <a:rPr lang="en-US" altLang="ko-KR" sz="1400" dirty="0">
                <a:solidFill>
                  <a:srgbClr val="0070C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the decision probabilities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calculated by each classifier.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38" name="왼쪽 중괄호 37">
            <a:extLst>
              <a:ext uri="{FF2B5EF4-FFF2-40B4-BE49-F238E27FC236}">
                <a16:creationId xmlns:a16="http://schemas.microsoft.com/office/drawing/2014/main" id="{A01CC093-8669-ADD0-B90E-0275DF577E11}"/>
              </a:ext>
            </a:extLst>
          </p:cNvPr>
          <p:cNvSpPr/>
          <p:nvPr/>
        </p:nvSpPr>
        <p:spPr>
          <a:xfrm>
            <a:off x="2097612" y="4107921"/>
            <a:ext cx="566496" cy="965062"/>
          </a:xfrm>
          <a:prstGeom prst="leftBrace">
            <a:avLst>
              <a:gd name="adj1" fmla="val 23497"/>
              <a:gd name="adj2" fmla="val 54075"/>
            </a:avLst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133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21D290F-8111-EF50-42FA-9C493B55D3B6}"/>
              </a:ext>
            </a:extLst>
          </p:cNvPr>
          <p:cNvSpPr txBox="1"/>
          <p:nvPr/>
        </p:nvSpPr>
        <p:spPr>
          <a:xfrm>
            <a:off x="4697369" y="490728"/>
            <a:ext cx="2491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Soft Voting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85F45D-3FAA-7784-FA9E-6606F98457E3}"/>
              </a:ext>
            </a:extLst>
          </p:cNvPr>
          <p:cNvSpPr txBox="1"/>
          <p:nvPr/>
        </p:nvSpPr>
        <p:spPr>
          <a:xfrm>
            <a:off x="4067692" y="2684668"/>
            <a:ext cx="68706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00206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combines predictions from multiple machine learning models </a:t>
            </a:r>
          </a:p>
          <a:p>
            <a:r>
              <a:rPr lang="en-US" altLang="ko-KR" sz="1600" dirty="0">
                <a:solidFill>
                  <a:srgbClr val="00206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to improve performance and reduce overfitting.</a:t>
            </a:r>
          </a:p>
          <a:p>
            <a:endParaRPr lang="ko-KR" altLang="en-US" sz="1600" dirty="0">
              <a:solidFill>
                <a:srgbClr val="00206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DBC070-6F94-5FCA-C695-01C99B2968A9}"/>
              </a:ext>
            </a:extLst>
          </p:cNvPr>
          <p:cNvSpPr txBox="1"/>
          <p:nvPr/>
        </p:nvSpPr>
        <p:spPr>
          <a:xfrm>
            <a:off x="4138476" y="2012412"/>
            <a:ext cx="1582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Voting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3FA0584-E7D2-00CE-C0F1-A11BFF6A6F54}"/>
              </a:ext>
            </a:extLst>
          </p:cNvPr>
          <p:cNvSpPr/>
          <p:nvPr/>
        </p:nvSpPr>
        <p:spPr>
          <a:xfrm>
            <a:off x="950210" y="1678964"/>
            <a:ext cx="1933459" cy="308843"/>
          </a:xfrm>
          <a:prstGeom prst="rect">
            <a:avLst/>
          </a:prstGeom>
          <a:solidFill>
            <a:srgbClr val="2341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Random Forest</a:t>
            </a:r>
            <a:endParaRPr lang="ko-KR" altLang="en-US" sz="14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E8D1477-DC79-D003-5387-17178808164C}"/>
              </a:ext>
            </a:extLst>
          </p:cNvPr>
          <p:cNvSpPr/>
          <p:nvPr/>
        </p:nvSpPr>
        <p:spPr>
          <a:xfrm>
            <a:off x="950209" y="2114407"/>
            <a:ext cx="1933459" cy="308843"/>
          </a:xfrm>
          <a:prstGeom prst="rect">
            <a:avLst/>
          </a:prstGeom>
          <a:solidFill>
            <a:srgbClr val="2341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Gradient Boosting</a:t>
            </a:r>
            <a:endParaRPr lang="ko-KR" altLang="en-US" sz="14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D7ABAA-D414-E461-F019-C491D4F85BF2}"/>
              </a:ext>
            </a:extLst>
          </p:cNvPr>
          <p:cNvSpPr/>
          <p:nvPr/>
        </p:nvSpPr>
        <p:spPr>
          <a:xfrm>
            <a:off x="950208" y="2536502"/>
            <a:ext cx="1933459" cy="308843"/>
          </a:xfrm>
          <a:prstGeom prst="rect">
            <a:avLst/>
          </a:prstGeom>
          <a:solidFill>
            <a:srgbClr val="2341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Ada Boost</a:t>
            </a:r>
            <a:endParaRPr lang="ko-KR" altLang="en-US" sz="14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A84A66-18E1-FE2F-2CD2-1154647147D0}"/>
              </a:ext>
            </a:extLst>
          </p:cNvPr>
          <p:cNvSpPr/>
          <p:nvPr/>
        </p:nvSpPr>
        <p:spPr>
          <a:xfrm>
            <a:off x="945184" y="2967824"/>
            <a:ext cx="1933459" cy="308843"/>
          </a:xfrm>
          <a:prstGeom prst="rect">
            <a:avLst/>
          </a:prstGeom>
          <a:solidFill>
            <a:srgbClr val="2341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LightGBM</a:t>
            </a:r>
            <a:endParaRPr lang="ko-KR" altLang="en-US" sz="14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8BC04AE-C334-83C7-C2AB-22A014B3AB68}"/>
              </a:ext>
            </a:extLst>
          </p:cNvPr>
          <p:cNvCxnSpPr>
            <a:cxnSpLocks/>
          </p:cNvCxnSpPr>
          <p:nvPr/>
        </p:nvCxnSpPr>
        <p:spPr>
          <a:xfrm>
            <a:off x="5796731" y="2274022"/>
            <a:ext cx="800119" cy="0"/>
          </a:xfrm>
          <a:prstGeom prst="straightConnector1">
            <a:avLst/>
          </a:prstGeom>
          <a:ln w="12700">
            <a:solidFill>
              <a:srgbClr val="002060"/>
            </a:solidFill>
            <a:miter lim="800000"/>
            <a:headEnd type="none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8672B81-191C-76B4-F63A-96A7D56DCB26}"/>
              </a:ext>
            </a:extLst>
          </p:cNvPr>
          <p:cNvSpPr txBox="1"/>
          <p:nvPr/>
        </p:nvSpPr>
        <p:spPr>
          <a:xfrm>
            <a:off x="6722110" y="2056152"/>
            <a:ext cx="998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output</a:t>
            </a:r>
            <a:endParaRPr lang="ko-KR" altLang="en-US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2BD7F5B-34FB-809B-AABE-40CACE5D4D97}"/>
              </a:ext>
            </a:extLst>
          </p:cNvPr>
          <p:cNvGrpSpPr/>
          <p:nvPr/>
        </p:nvGrpSpPr>
        <p:grpSpPr>
          <a:xfrm>
            <a:off x="2878643" y="1833386"/>
            <a:ext cx="1075987" cy="1288860"/>
            <a:chOff x="2878643" y="1833386"/>
            <a:chExt cx="1075987" cy="1288860"/>
          </a:xfrm>
        </p:grpSpPr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67F1E746-4CDA-1307-B520-E09FC47F8C36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2883667" y="2690924"/>
              <a:ext cx="235977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463832C4-CE5A-5441-BB64-3C5C8E558EDC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 flipV="1">
              <a:off x="2883668" y="2268314"/>
              <a:ext cx="235976" cy="515"/>
            </a:xfrm>
            <a:prstGeom prst="straightConnector1">
              <a:avLst/>
            </a:prstGeom>
            <a:ln w="12700">
              <a:solidFill>
                <a:srgbClr val="002060"/>
              </a:solidFill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25402DB2-1B00-39B9-49F0-206C682B8CDD}"/>
                </a:ext>
              </a:extLst>
            </p:cNvPr>
            <p:cNvCxnSpPr>
              <a:cxnSpLocks/>
            </p:cNvCxnSpPr>
            <p:nvPr/>
          </p:nvCxnSpPr>
          <p:spPr>
            <a:xfrm>
              <a:off x="3119644" y="2268314"/>
              <a:ext cx="834986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miter lim="800000"/>
              <a:headEnd type="none" w="med" len="med"/>
              <a:tailEnd type="stealth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연결선: 꺾임 27">
              <a:extLst>
                <a:ext uri="{FF2B5EF4-FFF2-40B4-BE49-F238E27FC236}">
                  <a16:creationId xmlns:a16="http://schemas.microsoft.com/office/drawing/2014/main" id="{95EA697E-2B33-022E-059B-AE0BB43512BB}"/>
                </a:ext>
              </a:extLst>
            </p:cNvPr>
            <p:cNvCxnSpPr>
              <a:cxnSpLocks/>
              <a:stCxn id="18" idx="3"/>
              <a:endCxn id="21" idx="3"/>
            </p:cNvCxnSpPr>
            <p:nvPr/>
          </p:nvCxnSpPr>
          <p:spPr>
            <a:xfrm flipH="1">
              <a:off x="2878643" y="1833386"/>
              <a:ext cx="5026" cy="1288860"/>
            </a:xfrm>
            <a:prstGeom prst="bentConnector3">
              <a:avLst>
                <a:gd name="adj1" fmla="val -4548349"/>
              </a:avLst>
            </a:prstGeom>
            <a:ln w="127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08997C9-3CDD-0DA1-B292-0A03BCBF544C}"/>
              </a:ext>
            </a:extLst>
          </p:cNvPr>
          <p:cNvGrpSpPr/>
          <p:nvPr/>
        </p:nvGrpSpPr>
        <p:grpSpPr>
          <a:xfrm>
            <a:off x="2664108" y="4881893"/>
            <a:ext cx="2035710" cy="430129"/>
            <a:chOff x="3628689" y="698943"/>
            <a:chExt cx="1370927" cy="439880"/>
          </a:xfrm>
          <a:solidFill>
            <a:schemeClr val="bg1"/>
          </a:solidFill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29AD0623-50D2-3D2F-24E7-98CDB0806AC0}"/>
                </a:ext>
              </a:extLst>
            </p:cNvPr>
            <p:cNvSpPr/>
            <p:nvPr/>
          </p:nvSpPr>
          <p:spPr>
            <a:xfrm>
              <a:off x="3628689" y="698943"/>
              <a:ext cx="1370927" cy="439880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954BB90-B3ED-B07A-477A-8F13B1765274}"/>
                </a:ext>
              </a:extLst>
            </p:cNvPr>
            <p:cNvSpPr txBox="1"/>
            <p:nvPr/>
          </p:nvSpPr>
          <p:spPr>
            <a:xfrm>
              <a:off x="3880306" y="757133"/>
              <a:ext cx="1005951" cy="34622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Soft Voting</a:t>
              </a:r>
              <a:endParaRPr lang="ko-KR" altLang="en-US" sz="16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ED16ED4-A218-E214-E6BD-4C9F30A9DBDB}"/>
              </a:ext>
            </a:extLst>
          </p:cNvPr>
          <p:cNvGrpSpPr/>
          <p:nvPr/>
        </p:nvGrpSpPr>
        <p:grpSpPr>
          <a:xfrm>
            <a:off x="2661659" y="3890176"/>
            <a:ext cx="2035710" cy="430129"/>
            <a:chOff x="3608824" y="698943"/>
            <a:chExt cx="1370927" cy="439880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43F393ED-1281-C59A-CB87-28777DCB38E9}"/>
                </a:ext>
              </a:extLst>
            </p:cNvPr>
            <p:cNvSpPr/>
            <p:nvPr/>
          </p:nvSpPr>
          <p:spPr>
            <a:xfrm>
              <a:off x="3608824" y="698943"/>
              <a:ext cx="1370927" cy="43988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3BB7A5F-C103-2AC5-A034-39F40C6CAC86}"/>
                </a:ext>
              </a:extLst>
            </p:cNvPr>
            <p:cNvSpPr txBox="1"/>
            <p:nvPr/>
          </p:nvSpPr>
          <p:spPr>
            <a:xfrm>
              <a:off x="3835403" y="755756"/>
              <a:ext cx="1005951" cy="3462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Hard Voting</a:t>
              </a:r>
              <a:endParaRPr lang="ko-KR" altLang="en-US" sz="16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8EB07A55-2CC7-F386-2A4E-BB1224D69C36}"/>
              </a:ext>
            </a:extLst>
          </p:cNvPr>
          <p:cNvSpPr txBox="1"/>
          <p:nvPr/>
        </p:nvSpPr>
        <p:spPr>
          <a:xfrm>
            <a:off x="4763508" y="3890176"/>
            <a:ext cx="6129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The final voting result is determined </a:t>
            </a:r>
          </a:p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by </a:t>
            </a:r>
            <a:r>
              <a:rPr lang="en-US" altLang="ko-KR" sz="1400" dirty="0">
                <a:solidFill>
                  <a:srgbClr val="0070C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the decision value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chosen by the majority of classifiers.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123C48-9BA7-A619-5AA9-85274287D648}"/>
              </a:ext>
            </a:extLst>
          </p:cNvPr>
          <p:cNvSpPr txBox="1"/>
          <p:nvPr/>
        </p:nvSpPr>
        <p:spPr>
          <a:xfrm>
            <a:off x="4763508" y="4881893"/>
            <a:ext cx="6668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The final voting result is determined </a:t>
            </a:r>
          </a:p>
          <a:p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by averaging </a:t>
            </a:r>
            <a:r>
              <a:rPr lang="en-US" altLang="ko-KR" sz="1400" dirty="0">
                <a:solidFill>
                  <a:srgbClr val="0070C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the decision probabilities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calculated by each classifier.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38" name="왼쪽 중괄호 37">
            <a:extLst>
              <a:ext uri="{FF2B5EF4-FFF2-40B4-BE49-F238E27FC236}">
                <a16:creationId xmlns:a16="http://schemas.microsoft.com/office/drawing/2014/main" id="{A01CC093-8669-ADD0-B90E-0275DF577E11}"/>
              </a:ext>
            </a:extLst>
          </p:cNvPr>
          <p:cNvSpPr/>
          <p:nvPr/>
        </p:nvSpPr>
        <p:spPr>
          <a:xfrm>
            <a:off x="2097612" y="4107921"/>
            <a:ext cx="566496" cy="965062"/>
          </a:xfrm>
          <a:prstGeom prst="leftBrace">
            <a:avLst>
              <a:gd name="adj1" fmla="val 23497"/>
              <a:gd name="adj2" fmla="val 54075"/>
            </a:avLst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139227-7E89-49C8-C085-C5D8EFEE8F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717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8F21BD-D83A-E241-54D8-16F4E93A0262}"/>
              </a:ext>
            </a:extLst>
          </p:cNvPr>
          <p:cNvSpPr txBox="1"/>
          <p:nvPr/>
        </p:nvSpPr>
        <p:spPr>
          <a:xfrm>
            <a:off x="916369" y="3133762"/>
            <a:ext cx="10053701" cy="964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We chose </a:t>
            </a:r>
            <a:r>
              <a:rPr lang="en-US" altLang="ko-KR" sz="2000" dirty="0">
                <a:solidFill>
                  <a:srgbClr val="FFCC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Soft voting </a:t>
            </a:r>
            <a:r>
              <a:rPr lang="en-US" altLang="ko-KR" sz="2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to reflect the probability differences in predictions, </a:t>
            </a:r>
          </a:p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even when the final outcomes are the same.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68D6EC-FF77-6561-E387-40418EA8C0BA}"/>
              </a:ext>
            </a:extLst>
          </p:cNvPr>
          <p:cNvSpPr txBox="1"/>
          <p:nvPr/>
        </p:nvSpPr>
        <p:spPr>
          <a:xfrm>
            <a:off x="445359" y="361680"/>
            <a:ext cx="273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DLaM Display" panose="020F0502020204030204" pitchFamily="2" charset="0"/>
              </a:rPr>
              <a:t>Further ensemble &amp; Validation</a:t>
            </a:r>
          </a:p>
        </p:txBody>
      </p:sp>
    </p:spTree>
    <p:extLst>
      <p:ext uri="{BB962C8B-B14F-4D97-AF65-F5344CB8AC3E}">
        <p14:creationId xmlns:p14="http://schemas.microsoft.com/office/powerpoint/2010/main" val="3294318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21D290F-8111-EF50-42FA-9C493B55D3B6}"/>
              </a:ext>
            </a:extLst>
          </p:cNvPr>
          <p:cNvSpPr txBox="1"/>
          <p:nvPr/>
        </p:nvSpPr>
        <p:spPr>
          <a:xfrm>
            <a:off x="4697369" y="490728"/>
            <a:ext cx="2491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Soft Voting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E15A44B-0825-22D1-7B1D-2FC91DDFADC1}"/>
              </a:ext>
            </a:extLst>
          </p:cNvPr>
          <p:cNvGrpSpPr/>
          <p:nvPr/>
        </p:nvGrpSpPr>
        <p:grpSpPr>
          <a:xfrm>
            <a:off x="445359" y="1429624"/>
            <a:ext cx="5691607" cy="583236"/>
            <a:chOff x="584860" y="1883193"/>
            <a:chExt cx="6328262" cy="555660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490DA373-9F83-756C-981B-D5985498891E}"/>
                </a:ext>
              </a:extLst>
            </p:cNvPr>
            <p:cNvSpPr/>
            <p:nvPr/>
          </p:nvSpPr>
          <p:spPr>
            <a:xfrm>
              <a:off x="584860" y="1883193"/>
              <a:ext cx="6328262" cy="415029"/>
            </a:xfrm>
            <a:prstGeom prst="roundRect">
              <a:avLst>
                <a:gd name="adj" fmla="val 31711"/>
              </a:avLst>
            </a:prstGeom>
            <a:solidFill>
              <a:srgbClr val="E9F1E9"/>
            </a:solidFill>
            <a:ln>
              <a:noFill/>
            </a:ln>
            <a:effectLst>
              <a:outerShdw blurRad="50800" dist="38100" dir="2700000" algn="tl" rotWithShape="0">
                <a:srgbClr val="40745F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F2ABDC-49A2-F89A-C302-A673128C04D2}"/>
                </a:ext>
              </a:extLst>
            </p:cNvPr>
            <p:cNvSpPr txBox="1"/>
            <p:nvPr/>
          </p:nvSpPr>
          <p:spPr>
            <a:xfrm>
              <a:off x="929245" y="1940372"/>
              <a:ext cx="5823167" cy="4984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from </a:t>
              </a:r>
              <a:r>
                <a:rPr lang="en-US" altLang="ko-KR" sz="1400" dirty="0" err="1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sklearn.ensemble</a:t>
              </a:r>
              <a:r>
                <a:rPr lang="en-US" altLang="ko-KR" sz="1400" dirty="0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import </a:t>
              </a:r>
              <a:r>
                <a:rPr lang="en-US" altLang="ko-KR" sz="1400" dirty="0" err="1">
                  <a:solidFill>
                    <a:srgbClr val="40745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VotingClassifier</a:t>
              </a:r>
              <a:endParaRPr lang="en-US" altLang="ko-KR" sz="1400" dirty="0">
                <a:solidFill>
                  <a:srgbClr val="40745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D6AA2C33-62F8-C80E-38F2-73FCFB1F0D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55" y="2373718"/>
            <a:ext cx="6107127" cy="32987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1ABDC1-9F5A-8345-30F3-512C866BAB47}"/>
              </a:ext>
            </a:extLst>
          </p:cNvPr>
          <p:cNvSpPr txBox="1"/>
          <p:nvPr/>
        </p:nvSpPr>
        <p:spPr>
          <a:xfrm>
            <a:off x="618888" y="2101810"/>
            <a:ext cx="2004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Optimal Model</a:t>
            </a:r>
            <a:endParaRPr lang="ko-KR" altLang="en-US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BC25152-198C-648C-6912-48A27D4E734E}"/>
              </a:ext>
            </a:extLst>
          </p:cNvPr>
          <p:cNvGrpSpPr/>
          <p:nvPr/>
        </p:nvGrpSpPr>
        <p:grpSpPr>
          <a:xfrm>
            <a:off x="6653844" y="1629505"/>
            <a:ext cx="1549169" cy="338556"/>
            <a:chOff x="3671733" y="712550"/>
            <a:chExt cx="1193673" cy="315143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B8DD7E90-D874-EE7F-ED9C-FA1C68DB4A71}"/>
                </a:ext>
              </a:extLst>
            </p:cNvPr>
            <p:cNvSpPr/>
            <p:nvPr/>
          </p:nvSpPr>
          <p:spPr>
            <a:xfrm>
              <a:off x="3671733" y="712550"/>
              <a:ext cx="1193673" cy="315143"/>
            </a:xfrm>
            <a:prstGeom prst="roundRect">
              <a:avLst>
                <a:gd name="adj" fmla="val 50000"/>
              </a:avLst>
            </a:prstGeom>
            <a:solidFill>
              <a:srgbClr val="23413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33FF07B-C187-5D1F-B9CE-345237CACDC7}"/>
                </a:ext>
              </a:extLst>
            </p:cNvPr>
            <p:cNvSpPr txBox="1"/>
            <p:nvPr/>
          </p:nvSpPr>
          <p:spPr>
            <a:xfrm>
              <a:off x="3985310" y="742573"/>
              <a:ext cx="776855" cy="2578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Models</a:t>
              </a:r>
              <a:endParaRPr lang="ko-KR" altLang="en-US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2C57D3F-FAB4-8BDA-AD03-BF48ED852706}"/>
              </a:ext>
            </a:extLst>
          </p:cNvPr>
          <p:cNvSpPr txBox="1"/>
          <p:nvPr/>
        </p:nvSpPr>
        <p:spPr>
          <a:xfrm>
            <a:off x="6653844" y="2035164"/>
            <a:ext cx="56138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RandomForest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</a:t>
            </a:r>
            <a:r>
              <a:rPr lang="en-US" altLang="ko-KR" sz="14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GradientBoosting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, AdaBoost, </a:t>
            </a:r>
            <a:r>
              <a:rPr lang="en-US" altLang="ko-KR" sz="1400" dirty="0" err="1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LightGBM</a:t>
            </a:r>
            <a:endParaRPr lang="en-US" altLang="ko-KR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62DA84-C453-CD1D-8D2D-83EFB29DF367}"/>
              </a:ext>
            </a:extLst>
          </p:cNvPr>
          <p:cNvSpPr txBox="1"/>
          <p:nvPr/>
        </p:nvSpPr>
        <p:spPr>
          <a:xfrm>
            <a:off x="6653844" y="3005025"/>
            <a:ext cx="3646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2:3:3:3</a:t>
            </a:r>
            <a:r>
              <a:rPr lang="en-US" altLang="ko-KR" sz="14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(determined experimentally) 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3B83140-FEE4-4ECE-23B7-B55526277197}"/>
              </a:ext>
            </a:extLst>
          </p:cNvPr>
          <p:cNvGrpSpPr/>
          <p:nvPr/>
        </p:nvGrpSpPr>
        <p:grpSpPr>
          <a:xfrm>
            <a:off x="6653843" y="2540246"/>
            <a:ext cx="1777093" cy="330643"/>
            <a:chOff x="3608825" y="698943"/>
            <a:chExt cx="1483568" cy="330643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111EEAED-7523-68B7-C52E-07B74858E506}"/>
                </a:ext>
              </a:extLst>
            </p:cNvPr>
            <p:cNvSpPr/>
            <p:nvPr/>
          </p:nvSpPr>
          <p:spPr>
            <a:xfrm>
              <a:off x="3608825" y="698943"/>
              <a:ext cx="1483568" cy="330643"/>
            </a:xfrm>
            <a:prstGeom prst="roundRect">
              <a:avLst>
                <a:gd name="adj" fmla="val 50000"/>
              </a:avLst>
            </a:prstGeom>
            <a:solidFill>
              <a:srgbClr val="23413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C97ABAB-45A2-8248-E651-7AFC96ABEFB0}"/>
                </a:ext>
              </a:extLst>
            </p:cNvPr>
            <p:cNvSpPr txBox="1"/>
            <p:nvPr/>
          </p:nvSpPr>
          <p:spPr>
            <a:xfrm>
              <a:off x="3760669" y="732774"/>
              <a:ext cx="119153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 Reflection Ratio</a:t>
              </a:r>
              <a:endParaRPr lang="ko-KR" altLang="en-US" sz="1200" dirty="0">
                <a:solidFill>
                  <a:schemeClr val="bg1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pic>
        <p:nvPicPr>
          <p:cNvPr id="42" name="그림 41">
            <a:extLst>
              <a:ext uri="{FF2B5EF4-FFF2-40B4-BE49-F238E27FC236}">
                <a16:creationId xmlns:a16="http://schemas.microsoft.com/office/drawing/2014/main" id="{3166BF6F-6D90-1ACC-F517-2E92BF458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768" y="3974886"/>
            <a:ext cx="4810796" cy="27245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B8E57886-E6D3-19DA-B8F4-0BF51E8D9C17}"/>
              </a:ext>
            </a:extLst>
          </p:cNvPr>
          <p:cNvSpPr txBox="1"/>
          <p:nvPr/>
        </p:nvSpPr>
        <p:spPr>
          <a:xfrm>
            <a:off x="6945683" y="3547806"/>
            <a:ext cx="1080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Result</a:t>
            </a:r>
            <a:endParaRPr lang="ko-KR" altLang="en-US" sz="2000" dirty="0"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44BA5DB-88E1-C82F-A8C1-20D44C66EEE7}"/>
              </a:ext>
            </a:extLst>
          </p:cNvPr>
          <p:cNvGrpSpPr/>
          <p:nvPr/>
        </p:nvGrpSpPr>
        <p:grpSpPr>
          <a:xfrm>
            <a:off x="618888" y="5761408"/>
            <a:ext cx="1654529" cy="307777"/>
            <a:chOff x="3671733" y="712550"/>
            <a:chExt cx="1193673" cy="315143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FA9E3A98-1577-2EAF-7FEB-82A2F2E4D5F9}"/>
                </a:ext>
              </a:extLst>
            </p:cNvPr>
            <p:cNvSpPr/>
            <p:nvPr/>
          </p:nvSpPr>
          <p:spPr>
            <a:xfrm>
              <a:off x="3671733" y="712550"/>
              <a:ext cx="1193673" cy="315143"/>
            </a:xfrm>
            <a:prstGeom prst="roundRect">
              <a:avLst>
                <a:gd name="adj" fmla="val 50000"/>
              </a:avLst>
            </a:prstGeom>
            <a:solidFill>
              <a:srgbClr val="FFCC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40E109B-22C7-E351-16ED-2AAB72898146}"/>
                </a:ext>
              </a:extLst>
            </p:cNvPr>
            <p:cNvSpPr txBox="1"/>
            <p:nvPr/>
          </p:nvSpPr>
          <p:spPr>
            <a:xfrm>
              <a:off x="3820335" y="734765"/>
              <a:ext cx="915974" cy="2578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latin typeface="에스코어 드림 5 Medium" panose="020B0503030302020204" pitchFamily="34" charset="-127"/>
                  <a:ea typeface="에스코어 드림 5 Medium" panose="020B0503030302020204" pitchFamily="34" charset="-127"/>
                </a:rPr>
                <a:t>Performance</a:t>
              </a:r>
              <a:endParaRPr lang="ko-KR" altLang="en-US" sz="12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endParaRPr>
            </a:p>
          </p:txBody>
        </p:sp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65E7A67-3B64-B3F3-E672-A0563BC475DF}"/>
              </a:ext>
            </a:extLst>
          </p:cNvPr>
          <p:cNvSpPr/>
          <p:nvPr/>
        </p:nvSpPr>
        <p:spPr>
          <a:xfrm>
            <a:off x="4566625" y="6166265"/>
            <a:ext cx="610627" cy="323165"/>
          </a:xfrm>
          <a:prstGeom prst="rect">
            <a:avLst/>
          </a:prstGeom>
          <a:solidFill>
            <a:srgbClr val="FBF99D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1A5104-D79D-E577-4536-96CC3984624F}"/>
              </a:ext>
            </a:extLst>
          </p:cNvPr>
          <p:cNvSpPr txBox="1"/>
          <p:nvPr/>
        </p:nvSpPr>
        <p:spPr>
          <a:xfrm>
            <a:off x="618888" y="6188543"/>
            <a:ext cx="4558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The soft voting model achieved an F1 score of </a:t>
            </a:r>
            <a:r>
              <a:rPr lang="en-US" altLang="ko-KR" sz="1400" b="1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0.49</a:t>
            </a:r>
            <a:endParaRPr lang="ko-KR" altLang="en-US" sz="1400" dirty="0"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0F300D-E28A-DEBD-E2F0-0406FA275266}"/>
              </a:ext>
            </a:extLst>
          </p:cNvPr>
          <p:cNvSpPr txBox="1"/>
          <p:nvPr/>
        </p:nvSpPr>
        <p:spPr>
          <a:xfrm>
            <a:off x="445359" y="361680"/>
            <a:ext cx="273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DLaM Display" panose="020F0502020204030204" pitchFamily="2" charset="0"/>
              </a:rPr>
              <a:t>Further ensemble &amp; Validation</a:t>
            </a:r>
          </a:p>
        </p:txBody>
      </p:sp>
    </p:spTree>
    <p:extLst>
      <p:ext uri="{BB962C8B-B14F-4D97-AF65-F5344CB8AC3E}">
        <p14:creationId xmlns:p14="http://schemas.microsoft.com/office/powerpoint/2010/main" val="2665151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21D290F-8111-EF50-42FA-9C493B55D3B6}"/>
              </a:ext>
            </a:extLst>
          </p:cNvPr>
          <p:cNvSpPr txBox="1"/>
          <p:nvPr/>
        </p:nvSpPr>
        <p:spPr>
          <a:xfrm>
            <a:off x="4742827" y="464365"/>
            <a:ext cx="2788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Validation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9BCCBD-C97D-A08A-6F23-7FDF504861B3}"/>
              </a:ext>
            </a:extLst>
          </p:cNvPr>
          <p:cNvSpPr txBox="1"/>
          <p:nvPr/>
        </p:nvSpPr>
        <p:spPr>
          <a:xfrm>
            <a:off x="451637" y="1358439"/>
            <a:ext cx="9192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- To ensure that the model is trained evenly across all data samples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3861ED-29F4-F87A-18A2-81527DA54467}"/>
              </a:ext>
            </a:extLst>
          </p:cNvPr>
          <p:cNvSpPr txBox="1"/>
          <p:nvPr/>
        </p:nvSpPr>
        <p:spPr>
          <a:xfrm>
            <a:off x="451637" y="1952009"/>
            <a:ext cx="2912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Cross Validation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2CDF8E-BA28-9FB8-912E-B88E5E4F2FFC}"/>
              </a:ext>
            </a:extLst>
          </p:cNvPr>
          <p:cNvSpPr txBox="1"/>
          <p:nvPr/>
        </p:nvSpPr>
        <p:spPr>
          <a:xfrm>
            <a:off x="451637" y="3087547"/>
            <a:ext cx="3648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40745F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K-Fold Cross Validation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D700D2-FB58-2266-A958-B1153D7406D0}"/>
              </a:ext>
            </a:extLst>
          </p:cNvPr>
          <p:cNvSpPr txBox="1"/>
          <p:nvPr/>
        </p:nvSpPr>
        <p:spPr>
          <a:xfrm>
            <a:off x="451637" y="3494928"/>
            <a:ext cx="9192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Divide the dataset into K fold and use each fold as a validation dataset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D89644-CE87-E838-9BFE-86161EE32BE7}"/>
              </a:ext>
            </a:extLst>
          </p:cNvPr>
          <p:cNvSpPr txBox="1"/>
          <p:nvPr/>
        </p:nvSpPr>
        <p:spPr>
          <a:xfrm>
            <a:off x="451637" y="2356417"/>
            <a:ext cx="11445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 method of repeating training and validation by dividing the data multiple times to more accurately evaluate model.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A0051A3-ECFF-133A-407A-CDD47E4EEF0A}"/>
              </a:ext>
            </a:extLst>
          </p:cNvPr>
          <p:cNvGrpSpPr/>
          <p:nvPr/>
        </p:nvGrpSpPr>
        <p:grpSpPr>
          <a:xfrm>
            <a:off x="2733064" y="5501146"/>
            <a:ext cx="5552857" cy="483808"/>
            <a:chOff x="3450466" y="5447535"/>
            <a:chExt cx="5552857" cy="483808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94F411B0-44A8-0EC8-1542-142BA3979166}"/>
                </a:ext>
              </a:extLst>
            </p:cNvPr>
            <p:cNvSpPr/>
            <p:nvPr/>
          </p:nvSpPr>
          <p:spPr>
            <a:xfrm>
              <a:off x="3450466" y="5447535"/>
              <a:ext cx="5552857" cy="4838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61ABDC1-9F5A-8345-30F3-512C866BAB47}"/>
                </a:ext>
              </a:extLst>
            </p:cNvPr>
            <p:cNvSpPr txBox="1"/>
            <p:nvPr/>
          </p:nvSpPr>
          <p:spPr>
            <a:xfrm>
              <a:off x="3886943" y="5476744"/>
              <a:ext cx="49379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mean score: 0.8988163884673748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A05D50B-7734-9F60-329B-5BD260EDB2A6}"/>
              </a:ext>
            </a:extLst>
          </p:cNvPr>
          <p:cNvGrpSpPr/>
          <p:nvPr/>
        </p:nvGrpSpPr>
        <p:grpSpPr>
          <a:xfrm>
            <a:off x="2733064" y="4905604"/>
            <a:ext cx="8732551" cy="483808"/>
            <a:chOff x="3347877" y="5447535"/>
            <a:chExt cx="5943578" cy="483808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A10F9DD-0942-84CC-FC2D-CEE48FDA0A2B}"/>
                </a:ext>
              </a:extLst>
            </p:cNvPr>
            <p:cNvSpPr/>
            <p:nvPr/>
          </p:nvSpPr>
          <p:spPr>
            <a:xfrm>
              <a:off x="3347878" y="5447535"/>
              <a:ext cx="5820473" cy="4838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E435757-78BC-02B6-D457-DFF32FFEB43A}"/>
                </a:ext>
              </a:extLst>
            </p:cNvPr>
            <p:cNvSpPr txBox="1"/>
            <p:nvPr/>
          </p:nvSpPr>
          <p:spPr>
            <a:xfrm>
              <a:off x="3347877" y="5476744"/>
              <a:ext cx="59435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[0.89908953 0.90242792 0.89878604 0.89802731 0.89575114]</a:t>
              </a:r>
            </a:p>
          </p:txBody>
        </p:sp>
      </p:grpSp>
      <p:pic>
        <p:nvPicPr>
          <p:cNvPr id="37" name="그림 36" descr="스크린샷, 폰트, 그래픽이(가) 표시된 사진&#10;&#10;자동 생성된 설명">
            <a:extLst>
              <a:ext uri="{FF2B5EF4-FFF2-40B4-BE49-F238E27FC236}">
                <a16:creationId xmlns:a16="http://schemas.microsoft.com/office/drawing/2014/main" id="{DC049561-944C-3037-8207-08F4936B94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9" t="26286" r="3430" b="31828"/>
          <a:stretch/>
        </p:blipFill>
        <p:spPr>
          <a:xfrm>
            <a:off x="505147" y="4089715"/>
            <a:ext cx="5423289" cy="4848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142D479-8AAF-D311-E578-38E6E2E3451A}"/>
              </a:ext>
            </a:extLst>
          </p:cNvPr>
          <p:cNvSpPr txBox="1"/>
          <p:nvPr/>
        </p:nvSpPr>
        <p:spPr>
          <a:xfrm>
            <a:off x="962347" y="4996369"/>
            <a:ext cx="16433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Fold 1~5 Score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CE6A53-F8EF-5297-DA70-AF16766A9262}"/>
              </a:ext>
            </a:extLst>
          </p:cNvPr>
          <p:cNvSpPr txBox="1"/>
          <p:nvPr/>
        </p:nvSpPr>
        <p:spPr>
          <a:xfrm>
            <a:off x="1263042" y="5594244"/>
            <a:ext cx="1342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0070C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Mean Score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71864E6-05D1-106E-473E-F02E060FA28B}"/>
              </a:ext>
            </a:extLst>
          </p:cNvPr>
          <p:cNvSpPr/>
          <p:nvPr/>
        </p:nvSpPr>
        <p:spPr>
          <a:xfrm>
            <a:off x="2648158" y="4934813"/>
            <a:ext cx="8636587" cy="4545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A8F5474-CC0D-A901-339C-FA8B0B47F05D}"/>
              </a:ext>
            </a:extLst>
          </p:cNvPr>
          <p:cNvSpPr/>
          <p:nvPr/>
        </p:nvSpPr>
        <p:spPr>
          <a:xfrm>
            <a:off x="2648158" y="5536222"/>
            <a:ext cx="5637764" cy="45459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F6E08D-751D-83B7-64D7-6A7AA2B9A8A7}"/>
              </a:ext>
            </a:extLst>
          </p:cNvPr>
          <p:cNvSpPr txBox="1"/>
          <p:nvPr/>
        </p:nvSpPr>
        <p:spPr>
          <a:xfrm>
            <a:off x="445359" y="361680"/>
            <a:ext cx="273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DLaM Display" panose="020F0502020204030204" pitchFamily="2" charset="0"/>
              </a:rPr>
              <a:t>Further ensemble &amp; Validation</a:t>
            </a:r>
          </a:p>
        </p:txBody>
      </p:sp>
    </p:spTree>
    <p:extLst>
      <p:ext uri="{BB962C8B-B14F-4D97-AF65-F5344CB8AC3E}">
        <p14:creationId xmlns:p14="http://schemas.microsoft.com/office/powerpoint/2010/main" val="2266519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타원 25">
            <a:extLst>
              <a:ext uri="{FF2B5EF4-FFF2-40B4-BE49-F238E27FC236}">
                <a16:creationId xmlns:a16="http://schemas.microsoft.com/office/drawing/2014/main" id="{7443D446-27C0-801A-CB34-F6BC4917C16A}"/>
              </a:ext>
            </a:extLst>
          </p:cNvPr>
          <p:cNvSpPr/>
          <p:nvPr/>
        </p:nvSpPr>
        <p:spPr>
          <a:xfrm>
            <a:off x="5987368" y="1432202"/>
            <a:ext cx="1951040" cy="1862215"/>
          </a:xfrm>
          <a:prstGeom prst="ellipse">
            <a:avLst/>
          </a:prstGeom>
          <a:solidFill>
            <a:srgbClr val="23413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D290F-8111-EF50-42FA-9C493B55D3B6}"/>
              </a:ext>
            </a:extLst>
          </p:cNvPr>
          <p:cNvSpPr txBox="1"/>
          <p:nvPr/>
        </p:nvSpPr>
        <p:spPr>
          <a:xfrm>
            <a:off x="4742827" y="464365"/>
            <a:ext cx="2788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6F9F1A-694A-4F8A-F3CD-D771464ABB77}"/>
              </a:ext>
            </a:extLst>
          </p:cNvPr>
          <p:cNvSpPr txBox="1"/>
          <p:nvPr/>
        </p:nvSpPr>
        <p:spPr>
          <a:xfrm>
            <a:off x="6213838" y="2179404"/>
            <a:ext cx="1646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SMOTEEEN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6A2557-4194-EE1B-F379-DCE32F7EAE2C}"/>
              </a:ext>
            </a:extLst>
          </p:cNvPr>
          <p:cNvSpPr txBox="1"/>
          <p:nvPr/>
        </p:nvSpPr>
        <p:spPr>
          <a:xfrm>
            <a:off x="1961858" y="6055081"/>
            <a:ext cx="92917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:The ratio of target values during training  was the opposite of that during testing.</a:t>
            </a:r>
            <a:endParaRPr lang="ko-KR" altLang="en-US" sz="1600" dirty="0">
              <a:solidFill>
                <a:srgbClr val="FF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794BBBF-9571-F382-838D-8ECE3268239D}"/>
              </a:ext>
            </a:extLst>
          </p:cNvPr>
          <p:cNvGrpSpPr/>
          <p:nvPr/>
        </p:nvGrpSpPr>
        <p:grpSpPr>
          <a:xfrm>
            <a:off x="4503174" y="4089193"/>
            <a:ext cx="3588774" cy="2244439"/>
            <a:chOff x="4503174" y="4089193"/>
            <a:chExt cx="3588774" cy="2244439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701EED2-2DD5-98B8-2D5D-2EDB73DCBA7A}"/>
                </a:ext>
              </a:extLst>
            </p:cNvPr>
            <p:cNvSpPr/>
            <p:nvPr/>
          </p:nvSpPr>
          <p:spPr>
            <a:xfrm>
              <a:off x="4503174" y="4089193"/>
              <a:ext cx="3588774" cy="17950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aphicFrame>
          <p:nvGraphicFramePr>
            <p:cNvPr id="17" name="차트 16">
              <a:extLst>
                <a:ext uri="{FF2B5EF4-FFF2-40B4-BE49-F238E27FC236}">
                  <a16:creationId xmlns:a16="http://schemas.microsoft.com/office/drawing/2014/main" id="{1422E785-054C-BCBA-2305-E1710831801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68586199"/>
                </p:ext>
              </p:extLst>
            </p:nvPr>
          </p:nvGraphicFramePr>
          <p:xfrm>
            <a:off x="4644013" y="4177741"/>
            <a:ext cx="3069586" cy="215589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24" name="타원 23">
            <a:extLst>
              <a:ext uri="{FF2B5EF4-FFF2-40B4-BE49-F238E27FC236}">
                <a16:creationId xmlns:a16="http://schemas.microsoft.com/office/drawing/2014/main" id="{8B6BF856-6B02-4C0D-257F-C9FEB9877E09}"/>
              </a:ext>
            </a:extLst>
          </p:cNvPr>
          <p:cNvSpPr/>
          <p:nvPr/>
        </p:nvSpPr>
        <p:spPr>
          <a:xfrm>
            <a:off x="3868056" y="1432202"/>
            <a:ext cx="1951040" cy="1862215"/>
          </a:xfrm>
          <a:prstGeom prst="ellipse">
            <a:avLst/>
          </a:prstGeom>
          <a:solidFill>
            <a:srgbClr val="23413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FF106-F8AC-655E-DCE3-7127C5A09DA6}"/>
              </a:ext>
            </a:extLst>
          </p:cNvPr>
          <p:cNvSpPr txBox="1"/>
          <p:nvPr/>
        </p:nvSpPr>
        <p:spPr>
          <a:xfrm>
            <a:off x="3721608" y="2081500"/>
            <a:ext cx="2243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Standard</a:t>
            </a:r>
          </a:p>
          <a:p>
            <a:pPr algn="ctr"/>
            <a:r>
              <a:rPr lang="en-US" altLang="ko-KR" sz="2000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Scaler</a:t>
            </a:r>
            <a:endParaRPr lang="ko-KR" altLang="en-US" sz="2000" dirty="0">
              <a:solidFill>
                <a:schemeClr val="bg1"/>
              </a:soli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6B502A1B-0C2D-2E0D-F703-78C6F381C31F}"/>
              </a:ext>
            </a:extLst>
          </p:cNvPr>
          <p:cNvSpPr/>
          <p:nvPr/>
        </p:nvSpPr>
        <p:spPr>
          <a:xfrm rot="5400000">
            <a:off x="5573673" y="3357482"/>
            <a:ext cx="700316" cy="426525"/>
          </a:xfrm>
          <a:prstGeom prst="rightArrow">
            <a:avLst>
              <a:gd name="adj1" fmla="val 36445"/>
              <a:gd name="adj2" fmla="val 40221"/>
            </a:avLst>
          </a:prstGeom>
          <a:solidFill>
            <a:srgbClr val="2341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E80D39-3299-888B-4F4B-CBEE8B29E67D}"/>
              </a:ext>
            </a:extLst>
          </p:cNvPr>
          <p:cNvSpPr txBox="1"/>
          <p:nvPr/>
        </p:nvSpPr>
        <p:spPr>
          <a:xfrm>
            <a:off x="2937674" y="4104892"/>
            <a:ext cx="1565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Issue !!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130402-24E8-1AE8-81C6-097CF633343A}"/>
              </a:ext>
            </a:extLst>
          </p:cNvPr>
          <p:cNvSpPr txBox="1"/>
          <p:nvPr/>
        </p:nvSpPr>
        <p:spPr>
          <a:xfrm>
            <a:off x="445359" y="361680"/>
            <a:ext cx="715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DLaM Display" panose="020F0502020204030204" pitchFamily="2" charset="0"/>
              </a:rPr>
              <a:t>Issues</a:t>
            </a:r>
          </a:p>
        </p:txBody>
      </p:sp>
    </p:spTree>
    <p:extLst>
      <p:ext uri="{BB962C8B-B14F-4D97-AF65-F5344CB8AC3E}">
        <p14:creationId xmlns:p14="http://schemas.microsoft.com/office/powerpoint/2010/main" val="258392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21D290F-8111-EF50-42FA-9C493B55D3B6}"/>
              </a:ext>
            </a:extLst>
          </p:cNvPr>
          <p:cNvSpPr txBox="1"/>
          <p:nvPr/>
        </p:nvSpPr>
        <p:spPr>
          <a:xfrm>
            <a:off x="4742827" y="464365"/>
            <a:ext cx="2788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245869-153F-A6B0-357C-39A75DF4197D}"/>
              </a:ext>
            </a:extLst>
          </p:cNvPr>
          <p:cNvSpPr txBox="1"/>
          <p:nvPr/>
        </p:nvSpPr>
        <p:spPr>
          <a:xfrm>
            <a:off x="452487" y="1472538"/>
            <a:ext cx="8815561" cy="52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spc="0" dirty="0">
                <a:effectLst/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1. Consistent Use of Scaler for Both Training and Testing Data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3CB3921-2FF5-FB7E-AD91-8DC4F1756ECB}"/>
              </a:ext>
            </a:extLst>
          </p:cNvPr>
          <p:cNvGrpSpPr/>
          <p:nvPr/>
        </p:nvGrpSpPr>
        <p:grpSpPr>
          <a:xfrm>
            <a:off x="452487" y="2406813"/>
            <a:ext cx="5326144" cy="1402009"/>
            <a:chOff x="942680" y="2409370"/>
            <a:chExt cx="6080289" cy="1402009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5DA0BFA-1A58-CACB-A706-87D61F7EC761}"/>
                </a:ext>
              </a:extLst>
            </p:cNvPr>
            <p:cNvSpPr/>
            <p:nvPr/>
          </p:nvSpPr>
          <p:spPr>
            <a:xfrm>
              <a:off x="942680" y="2409370"/>
              <a:ext cx="6080289" cy="1402009"/>
            </a:xfrm>
            <a:prstGeom prst="roundRect">
              <a:avLst>
                <a:gd name="adj" fmla="val 4564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446DC3A-9481-25F2-3FD5-2DA577943C17}"/>
                </a:ext>
              </a:extLst>
            </p:cNvPr>
            <p:cNvSpPr txBox="1"/>
            <p:nvPr/>
          </p:nvSpPr>
          <p:spPr>
            <a:xfrm>
              <a:off x="1048967" y="2577911"/>
              <a:ext cx="5826983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df_train</a:t>
              </a:r>
              <a:r>
                <a:rPr lang="en-US" altLang="ko-KR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= </a:t>
              </a:r>
              <a:r>
                <a:rPr lang="en-US" altLang="ko-KR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scaler.</a:t>
              </a:r>
              <a:r>
                <a:rPr lang="en-US" altLang="ko-KR" sz="1600" dirty="0" err="1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fit_transform</a:t>
              </a:r>
              <a:r>
                <a:rPr lang="en-US" altLang="ko-KR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</a:t>
              </a:r>
              <a:r>
                <a:rPr lang="en-US" altLang="ko-KR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df_train</a:t>
              </a:r>
              <a:r>
                <a:rPr lang="en-US" altLang="ko-KR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)</a:t>
              </a:r>
            </a:p>
            <a:p>
              <a:endParaRPr lang="en-US" altLang="ko-KR" sz="5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en-US" altLang="ko-KR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...</a:t>
              </a:r>
            </a:p>
            <a:p>
              <a:endParaRPr lang="en-US" altLang="ko-KR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altLang="ko-KR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df_test</a:t>
              </a:r>
              <a:r>
                <a:rPr lang="en-US" altLang="ko-KR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= </a:t>
              </a:r>
              <a:r>
                <a:rPr lang="en-US" altLang="ko-KR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scaler.</a:t>
              </a:r>
              <a:r>
                <a:rPr lang="en-US" altLang="ko-KR" sz="1600" dirty="0" err="1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fit_transform</a:t>
              </a:r>
              <a:r>
                <a:rPr lang="en-US" altLang="ko-KR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</a:t>
              </a:r>
              <a:r>
                <a:rPr lang="en-US" altLang="ko-KR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df_test</a:t>
              </a:r>
              <a:r>
                <a:rPr lang="en-US" altLang="ko-KR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)</a:t>
              </a:r>
              <a:endParaRPr lang="ko-KR" altLang="en-US" sz="1600" dirty="0"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6D07A63-2765-DD92-0D61-2DF8E577AA0E}"/>
              </a:ext>
            </a:extLst>
          </p:cNvPr>
          <p:cNvGrpSpPr/>
          <p:nvPr/>
        </p:nvGrpSpPr>
        <p:grpSpPr>
          <a:xfrm>
            <a:off x="6156462" y="2415504"/>
            <a:ext cx="5326144" cy="1402009"/>
            <a:chOff x="942680" y="2328421"/>
            <a:chExt cx="6080289" cy="1402009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FD2DE1E7-BEF3-F9D9-C099-AE46C286E637}"/>
                </a:ext>
              </a:extLst>
            </p:cNvPr>
            <p:cNvSpPr/>
            <p:nvPr/>
          </p:nvSpPr>
          <p:spPr>
            <a:xfrm>
              <a:off x="942680" y="2328421"/>
              <a:ext cx="6080289" cy="1402009"/>
            </a:xfrm>
            <a:prstGeom prst="roundRect">
              <a:avLst>
                <a:gd name="adj" fmla="val 456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6B5285-24F2-7E33-08D9-859F70EB85F2}"/>
                </a:ext>
              </a:extLst>
            </p:cNvPr>
            <p:cNvSpPr txBox="1"/>
            <p:nvPr/>
          </p:nvSpPr>
          <p:spPr>
            <a:xfrm>
              <a:off x="1048966" y="2474082"/>
              <a:ext cx="5867716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df_train</a:t>
              </a:r>
              <a:r>
                <a:rPr lang="en-US" altLang="ko-KR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= </a:t>
              </a:r>
              <a:r>
                <a:rPr lang="en-US" altLang="ko-KR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scaler.</a:t>
              </a:r>
              <a:r>
                <a:rPr lang="en-US" altLang="ko-KR" sz="1600" dirty="0" err="1">
                  <a:solidFill>
                    <a:srgbClr val="0070C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fit_transform</a:t>
              </a:r>
              <a:r>
                <a:rPr lang="en-US" altLang="ko-KR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</a:t>
              </a:r>
              <a:r>
                <a:rPr lang="en-US" altLang="ko-KR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df_train</a:t>
              </a:r>
              <a:r>
                <a:rPr lang="en-US" altLang="ko-KR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)</a:t>
              </a:r>
            </a:p>
            <a:p>
              <a:endParaRPr lang="en-US" altLang="ko-KR" sz="5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ctr"/>
              <a:r>
                <a:rPr lang="en-US" altLang="ko-KR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...</a:t>
              </a:r>
            </a:p>
            <a:p>
              <a:endParaRPr lang="en-US" altLang="ko-KR" sz="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altLang="ko-KR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df_test</a:t>
              </a:r>
              <a:r>
                <a:rPr lang="en-US" altLang="ko-KR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= </a:t>
              </a:r>
              <a:r>
                <a:rPr lang="en-US" altLang="ko-KR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scaler.</a:t>
              </a:r>
              <a:r>
                <a:rPr lang="en-US" altLang="ko-KR" sz="1600" dirty="0" err="1">
                  <a:solidFill>
                    <a:srgbClr val="FF505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transform</a:t>
              </a:r>
              <a:r>
                <a:rPr lang="en-US" altLang="ko-KR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</a:t>
              </a:r>
              <a:r>
                <a:rPr lang="en-US" altLang="ko-KR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df_test</a:t>
              </a:r>
              <a:r>
                <a:rPr lang="en-US" altLang="ko-KR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)</a:t>
              </a:r>
              <a:endParaRPr lang="ko-KR" altLang="en-US" sz="1600" dirty="0"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22EA4A47-0A66-AA07-5467-73EC4A7EF029}"/>
              </a:ext>
            </a:extLst>
          </p:cNvPr>
          <p:cNvSpPr/>
          <p:nvPr/>
        </p:nvSpPr>
        <p:spPr>
          <a:xfrm>
            <a:off x="5549249" y="2903245"/>
            <a:ext cx="700316" cy="426525"/>
          </a:xfrm>
          <a:prstGeom prst="rightArrow">
            <a:avLst>
              <a:gd name="adj1" fmla="val 36445"/>
              <a:gd name="adj2" fmla="val 4022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AAA322-C4C6-EC30-73CF-4FDC5292AE61}"/>
              </a:ext>
            </a:extLst>
          </p:cNvPr>
          <p:cNvSpPr txBox="1"/>
          <p:nvPr/>
        </p:nvSpPr>
        <p:spPr>
          <a:xfrm>
            <a:off x="4507157" y="4077047"/>
            <a:ext cx="3958113" cy="43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spc="0" dirty="0">
                <a:solidFill>
                  <a:srgbClr val="FF0000"/>
                </a:solidFill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'fit' the scaler only on the training data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C8819-0742-D689-259D-E00ED107EB74}"/>
              </a:ext>
            </a:extLst>
          </p:cNvPr>
          <p:cNvSpPr txBox="1"/>
          <p:nvPr/>
        </p:nvSpPr>
        <p:spPr>
          <a:xfrm>
            <a:off x="445359" y="361680"/>
            <a:ext cx="715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DLaM Display" panose="020F0502020204030204" pitchFamily="2" charset="0"/>
              </a:rPr>
              <a:t>Issues</a:t>
            </a:r>
          </a:p>
        </p:txBody>
      </p:sp>
    </p:spTree>
    <p:extLst>
      <p:ext uri="{BB962C8B-B14F-4D97-AF65-F5344CB8AC3E}">
        <p14:creationId xmlns:p14="http://schemas.microsoft.com/office/powerpoint/2010/main" val="299826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15115A7-9343-9785-4ACC-B68342B36A89}"/>
              </a:ext>
            </a:extLst>
          </p:cNvPr>
          <p:cNvSpPr/>
          <p:nvPr/>
        </p:nvSpPr>
        <p:spPr>
          <a:xfrm>
            <a:off x="945473" y="2536531"/>
            <a:ext cx="4567831" cy="525722"/>
          </a:xfrm>
          <a:prstGeom prst="roundRect">
            <a:avLst>
              <a:gd name="adj" fmla="val 4564"/>
            </a:avLst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D290F-8111-EF50-42FA-9C493B55D3B6}"/>
              </a:ext>
            </a:extLst>
          </p:cNvPr>
          <p:cNvSpPr txBox="1"/>
          <p:nvPr/>
        </p:nvSpPr>
        <p:spPr>
          <a:xfrm>
            <a:off x="4742827" y="464365"/>
            <a:ext cx="2788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854EE0-A38A-72C6-7AD5-583293DECB73}"/>
              </a:ext>
            </a:extLst>
          </p:cNvPr>
          <p:cNvSpPr txBox="1"/>
          <p:nvPr/>
        </p:nvSpPr>
        <p:spPr>
          <a:xfrm>
            <a:off x="1593382" y="2603456"/>
            <a:ext cx="34402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scaler = </a:t>
            </a:r>
            <a:r>
              <a:rPr lang="en-US" altLang="ko-KR" sz="16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StandardScaler</a:t>
            </a:r>
            <a:r>
              <a:rPr lang="en-US" altLang="ko-KR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endParaRPr lang="ko-KR" alt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1B841-C1E7-7663-2E76-3C71CBA64546}"/>
              </a:ext>
            </a:extLst>
          </p:cNvPr>
          <p:cNvSpPr txBox="1"/>
          <p:nvPr/>
        </p:nvSpPr>
        <p:spPr>
          <a:xfrm>
            <a:off x="452487" y="1472538"/>
            <a:ext cx="8815561" cy="52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spc="0" dirty="0">
                <a:effectLst/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2. Switching from </a:t>
            </a:r>
            <a:r>
              <a:rPr lang="en-US" altLang="ko-KR" sz="2000" kern="0" spc="0" dirty="0" err="1">
                <a:effectLst/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StandardScaler</a:t>
            </a:r>
            <a:r>
              <a:rPr lang="en-US" altLang="ko-KR" sz="2000" kern="0" spc="0" dirty="0">
                <a:effectLst/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to </a:t>
            </a:r>
            <a:r>
              <a:rPr lang="en-US" altLang="ko-KR" sz="2000" kern="0" spc="0" dirty="0" err="1">
                <a:effectLst/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MinMaxScaler</a:t>
            </a:r>
            <a:endParaRPr lang="en-US" altLang="ko-KR" sz="2000" kern="0" spc="0" dirty="0">
              <a:effectLst/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250D5E-0558-AF01-DEF0-F0FECB0DAB3E}"/>
              </a:ext>
            </a:extLst>
          </p:cNvPr>
          <p:cNvSpPr txBox="1"/>
          <p:nvPr/>
        </p:nvSpPr>
        <p:spPr>
          <a:xfrm>
            <a:off x="1159497" y="3298118"/>
            <a:ext cx="57032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kern="0" spc="0" dirty="0">
                <a:solidFill>
                  <a:schemeClr val="bg2">
                    <a:lumMod val="50000"/>
                  </a:schemeClr>
                </a:solidFill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standardizes features by centering them around a mean of 0 </a:t>
            </a:r>
          </a:p>
          <a:p>
            <a:r>
              <a:rPr lang="en-US" altLang="ko-KR" sz="1400" kern="0" spc="0" dirty="0">
                <a:solidFill>
                  <a:schemeClr val="bg2">
                    <a:lumMod val="50000"/>
                  </a:schemeClr>
                </a:solidFill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and scaling them to have a standard deviation of 1</a:t>
            </a:r>
          </a:p>
          <a:p>
            <a:endParaRPr lang="ko-KR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D01E8130-836F-7EF0-A772-1774D180921B}"/>
              </a:ext>
            </a:extLst>
          </p:cNvPr>
          <p:cNvSpPr/>
          <p:nvPr/>
        </p:nvSpPr>
        <p:spPr>
          <a:xfrm>
            <a:off x="3312687" y="4141687"/>
            <a:ext cx="1951040" cy="1862215"/>
          </a:xfrm>
          <a:prstGeom prst="ellipse">
            <a:avLst/>
          </a:prstGeom>
          <a:solidFill>
            <a:srgbClr val="23413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A8CAA-749C-6F8C-D9E0-9F8E3549FE0C}"/>
              </a:ext>
            </a:extLst>
          </p:cNvPr>
          <p:cNvSpPr txBox="1"/>
          <p:nvPr/>
        </p:nvSpPr>
        <p:spPr>
          <a:xfrm>
            <a:off x="3548584" y="4872739"/>
            <a:ext cx="1646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SMOTEEEN</a:t>
            </a:r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BC48D5BF-AE38-8DC8-CF47-53772C580C2F}"/>
              </a:ext>
            </a:extLst>
          </p:cNvPr>
          <p:cNvCxnSpPr>
            <a:cxnSpLocks/>
            <a:endCxn id="3" idx="2"/>
          </p:cNvCxnSpPr>
          <p:nvPr/>
        </p:nvCxnSpPr>
        <p:spPr>
          <a:xfrm rot="16200000" flipH="1">
            <a:off x="2362821" y="4122929"/>
            <a:ext cx="1076416" cy="823315"/>
          </a:xfrm>
          <a:prstGeom prst="curvedConnector2">
            <a:avLst/>
          </a:prstGeom>
          <a:ln w="28575">
            <a:solidFill>
              <a:srgbClr val="4074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3520CA-CB75-13C9-5D43-F75C920CF0A6}"/>
              </a:ext>
            </a:extLst>
          </p:cNvPr>
          <p:cNvSpPr/>
          <p:nvPr/>
        </p:nvSpPr>
        <p:spPr>
          <a:xfrm>
            <a:off x="1970202" y="3330390"/>
            <a:ext cx="1244338" cy="5911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A01464-D6F6-49E3-5D36-31433D09D60E}"/>
              </a:ext>
            </a:extLst>
          </p:cNvPr>
          <p:cNvSpPr txBox="1"/>
          <p:nvPr/>
        </p:nvSpPr>
        <p:spPr>
          <a:xfrm>
            <a:off x="2862752" y="6108807"/>
            <a:ext cx="2850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40745F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Oversampling technique</a:t>
            </a:r>
            <a:endParaRPr lang="ko-KR" altLang="en-US" dirty="0">
              <a:solidFill>
                <a:srgbClr val="40745F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63F89F-E050-D176-679C-804CBC0C23EF}"/>
              </a:ext>
            </a:extLst>
          </p:cNvPr>
          <p:cNvSpPr txBox="1"/>
          <p:nvPr/>
        </p:nvSpPr>
        <p:spPr>
          <a:xfrm>
            <a:off x="5499624" y="4503656"/>
            <a:ext cx="6094428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kern="0" spc="0" dirty="0">
                <a:solidFill>
                  <a:srgbClr val="FF0000"/>
                </a:solidFill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The generated samples tend to cluster around a mean of 0, potentially making the model more sensitive to the input data.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5977D5-C140-9808-FA35-BA22C625AAB8}"/>
              </a:ext>
            </a:extLst>
          </p:cNvPr>
          <p:cNvSpPr txBox="1"/>
          <p:nvPr/>
        </p:nvSpPr>
        <p:spPr>
          <a:xfrm>
            <a:off x="445359" y="361680"/>
            <a:ext cx="715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DLaM Display" panose="020F0502020204030204" pitchFamily="2" charset="0"/>
              </a:rPr>
              <a:t>Issues</a:t>
            </a:r>
          </a:p>
        </p:txBody>
      </p:sp>
    </p:spTree>
    <p:extLst>
      <p:ext uri="{BB962C8B-B14F-4D97-AF65-F5344CB8AC3E}">
        <p14:creationId xmlns:p14="http://schemas.microsoft.com/office/powerpoint/2010/main" val="1830634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480C8F2-11CF-AB96-526C-71032F9C6C49}"/>
              </a:ext>
            </a:extLst>
          </p:cNvPr>
          <p:cNvSpPr/>
          <p:nvPr/>
        </p:nvSpPr>
        <p:spPr>
          <a:xfrm>
            <a:off x="6766586" y="2483212"/>
            <a:ext cx="4724688" cy="579042"/>
          </a:xfrm>
          <a:prstGeom prst="roundRect">
            <a:avLst>
              <a:gd name="adj" fmla="val 456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15115A7-9343-9785-4ACC-B68342B36A89}"/>
              </a:ext>
            </a:extLst>
          </p:cNvPr>
          <p:cNvSpPr/>
          <p:nvPr/>
        </p:nvSpPr>
        <p:spPr>
          <a:xfrm>
            <a:off x="945473" y="2536531"/>
            <a:ext cx="4567831" cy="525722"/>
          </a:xfrm>
          <a:prstGeom prst="roundRect">
            <a:avLst>
              <a:gd name="adj" fmla="val 4564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1D290F-8111-EF50-42FA-9C493B55D3B6}"/>
              </a:ext>
            </a:extLst>
          </p:cNvPr>
          <p:cNvSpPr txBox="1"/>
          <p:nvPr/>
        </p:nvSpPr>
        <p:spPr>
          <a:xfrm>
            <a:off x="4742827" y="464365"/>
            <a:ext cx="2788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854EE0-A38A-72C6-7AD5-583293DECB73}"/>
              </a:ext>
            </a:extLst>
          </p:cNvPr>
          <p:cNvSpPr txBox="1"/>
          <p:nvPr/>
        </p:nvSpPr>
        <p:spPr>
          <a:xfrm>
            <a:off x="1593382" y="2603456"/>
            <a:ext cx="34402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scaler = </a:t>
            </a:r>
            <a:r>
              <a:rPr lang="en-US" altLang="ko-KR" sz="1600" dirty="0" err="1">
                <a:solidFill>
                  <a:srgbClr val="0070C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StandardScaler</a:t>
            </a:r>
            <a:r>
              <a:rPr lang="en-US" altLang="ko-KR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endParaRPr lang="ko-KR" alt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66ED14-C761-7B53-A73F-2B555D1D48DD}"/>
              </a:ext>
            </a:extLst>
          </p:cNvPr>
          <p:cNvSpPr txBox="1"/>
          <p:nvPr/>
        </p:nvSpPr>
        <p:spPr>
          <a:xfrm>
            <a:off x="7409724" y="2603456"/>
            <a:ext cx="3352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scaler = </a:t>
            </a:r>
            <a:r>
              <a:rPr lang="en-US" altLang="ko-KR" sz="16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MinMaxScaler</a:t>
            </a:r>
            <a:r>
              <a:rPr lang="en-US" altLang="ko-KR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endParaRPr lang="ko-KR" alt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2107E460-D07F-E1C0-8F88-BA9EE57FDB1A}"/>
              </a:ext>
            </a:extLst>
          </p:cNvPr>
          <p:cNvSpPr/>
          <p:nvPr/>
        </p:nvSpPr>
        <p:spPr>
          <a:xfrm>
            <a:off x="5789787" y="2603456"/>
            <a:ext cx="700316" cy="426525"/>
          </a:xfrm>
          <a:prstGeom prst="rightArrow">
            <a:avLst>
              <a:gd name="adj1" fmla="val 36445"/>
              <a:gd name="adj2" fmla="val 4022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1B841-C1E7-7663-2E76-3C71CBA64546}"/>
              </a:ext>
            </a:extLst>
          </p:cNvPr>
          <p:cNvSpPr txBox="1"/>
          <p:nvPr/>
        </p:nvSpPr>
        <p:spPr>
          <a:xfrm>
            <a:off x="452487" y="1472538"/>
            <a:ext cx="8815561" cy="525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000" kern="0" spc="0" dirty="0">
                <a:effectLst/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2. Switching from </a:t>
            </a:r>
            <a:r>
              <a:rPr lang="en-US" altLang="ko-KR" sz="2000" kern="0" spc="0" dirty="0" err="1">
                <a:effectLst/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StandardScaler</a:t>
            </a:r>
            <a:r>
              <a:rPr lang="en-US" altLang="ko-KR" sz="2000" kern="0" spc="0" dirty="0">
                <a:effectLst/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 to </a:t>
            </a:r>
            <a:r>
              <a:rPr lang="en-US" altLang="ko-KR" sz="2000" kern="0" spc="0" dirty="0" err="1">
                <a:effectLst/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MinMaxScaler</a:t>
            </a:r>
            <a:endParaRPr lang="en-US" altLang="ko-KR" sz="2000" kern="0" spc="0" dirty="0">
              <a:effectLst/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250D5E-0558-AF01-DEF0-F0FECB0DAB3E}"/>
              </a:ext>
            </a:extLst>
          </p:cNvPr>
          <p:cNvSpPr txBox="1"/>
          <p:nvPr/>
        </p:nvSpPr>
        <p:spPr>
          <a:xfrm>
            <a:off x="6686941" y="3285597"/>
            <a:ext cx="5703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kern="0" spc="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adjusts the minimum and maximum values of the data to fit within the range of [0, 1]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33520CA-CB75-13C9-5D43-F75C920CF0A6}"/>
              </a:ext>
            </a:extLst>
          </p:cNvPr>
          <p:cNvSpPr/>
          <p:nvPr/>
        </p:nvSpPr>
        <p:spPr>
          <a:xfrm>
            <a:off x="1970202" y="3330390"/>
            <a:ext cx="1244338" cy="5911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AA4F28-BC47-B6C4-C7F7-46B9DBCF61DB}"/>
              </a:ext>
            </a:extLst>
          </p:cNvPr>
          <p:cNvSpPr txBox="1"/>
          <p:nvPr/>
        </p:nvSpPr>
        <p:spPr>
          <a:xfrm>
            <a:off x="445359" y="361680"/>
            <a:ext cx="715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ADLaM Display" panose="020F0502020204030204" pitchFamily="2" charset="0"/>
              </a:rPr>
              <a:t>Issues</a:t>
            </a:r>
          </a:p>
        </p:txBody>
      </p:sp>
    </p:spTree>
    <p:extLst>
      <p:ext uri="{BB962C8B-B14F-4D97-AF65-F5344CB8AC3E}">
        <p14:creationId xmlns:p14="http://schemas.microsoft.com/office/powerpoint/2010/main" val="3215712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3788391" y="3097763"/>
            <a:ext cx="4758449" cy="111967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6000" b="1" dirty="0"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Arial" panose="020B0604020202020204" pitchFamily="34" charset="0"/>
              </a:rPr>
              <a:t>Thank you</a:t>
            </a:r>
            <a:endParaRPr lang="ko-KR" altLang="en-US" sz="6000" b="1" dirty="0">
              <a:latin typeface="에스코어 드림 6 Bold" panose="020B0703030302020204" pitchFamily="34" charset="-127"/>
              <a:ea typeface="에스코어 드림 6 Bold" panose="020B0703030302020204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26238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사용자 지정 1">
      <a:dk1>
        <a:srgbClr val="222A35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이화체"/>
        <a:ea typeface="이화체"/>
        <a:cs typeface=""/>
      </a:majorFont>
      <a:minorFont>
        <a:latin typeface="YD윤고딕 330"/>
        <a:ea typeface="YD윤고딕 33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1180</Words>
  <Application>Microsoft Office PowerPoint</Application>
  <PresentationFormat>와이드스크린</PresentationFormat>
  <Paragraphs>246</Paragraphs>
  <Slides>28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42" baseType="lpstr">
      <vt:lpstr>맑은 고딕</vt:lpstr>
      <vt:lpstr>G마켓 산스 Bold</vt:lpstr>
      <vt:lpstr>Arial</vt:lpstr>
      <vt:lpstr>에스코어 드림 3 Light</vt:lpstr>
      <vt:lpstr>Cascadia Code</vt:lpstr>
      <vt:lpstr>에스코어 드림 4 Regular</vt:lpstr>
      <vt:lpstr>이화체</vt:lpstr>
      <vt:lpstr>Apple SD Gothic Neo</vt:lpstr>
      <vt:lpstr>에스코어 드림 6 Bold</vt:lpstr>
      <vt:lpstr>Cascadia Code SemiBold</vt:lpstr>
      <vt:lpstr>에스코어 드림 5 Medium</vt:lpstr>
      <vt:lpstr>Courier New</vt:lpstr>
      <vt:lpstr>YD윤고딕 330</vt:lpstr>
      <vt:lpstr>1_Office 테마</vt:lpstr>
      <vt:lpstr>Team 12 Project Presentation</vt:lpstr>
      <vt:lpstr>Index</vt:lpstr>
      <vt:lpstr>Preprocessing</vt:lpstr>
      <vt:lpstr>Preprocessing</vt:lpstr>
      <vt:lpstr>Preprocessing</vt:lpstr>
      <vt:lpstr>Preprocessing</vt:lpstr>
      <vt:lpstr>Preprocessing</vt:lpstr>
      <vt:lpstr>Preprocessing</vt:lpstr>
      <vt:lpstr>Preprocessing</vt:lpstr>
      <vt:lpstr>Preprocessing</vt:lpstr>
      <vt:lpstr>Preprocessing</vt:lpstr>
      <vt:lpstr>Training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이예원(컴퓨터공학전공)</dc:creator>
  <cp:lastModifiedBy>이예원(컴퓨터공학전공)</cp:lastModifiedBy>
  <cp:revision>8</cp:revision>
  <dcterms:created xsi:type="dcterms:W3CDTF">2024-06-11T06:44:27Z</dcterms:created>
  <dcterms:modified xsi:type="dcterms:W3CDTF">2024-06-12T14:53:15Z</dcterms:modified>
</cp:coreProperties>
</file>